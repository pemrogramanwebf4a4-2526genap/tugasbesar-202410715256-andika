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Garet Bold" panose="020B0604020202020204" charset="0"/>
      <p:regular r:id="rId18"/>
    </p:embeddedFont>
    <p:embeddedFont>
      <p:font typeface="Open Sauce" panose="020B0604020202020204" charset="0"/>
      <p:regular r:id="rId19"/>
    </p:embeddedFont>
    <p:embeddedFont>
      <p:font typeface="Open Sauce Semi-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svg"/><Relationship Id="rId7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7.svg"/><Relationship Id="rId7" Type="http://schemas.openxmlformats.org/officeDocument/2006/relationships/image" Target="../media/image5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1.svg"/><Relationship Id="rId4" Type="http://schemas.openxmlformats.org/officeDocument/2006/relationships/image" Target="../media/image2.sv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7.svg"/><Relationship Id="rId7" Type="http://schemas.openxmlformats.org/officeDocument/2006/relationships/image" Target="../media/image5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1.svg"/><Relationship Id="rId10" Type="http://schemas.openxmlformats.org/officeDocument/2006/relationships/image" Target="../media/image12.svg"/><Relationship Id="rId4" Type="http://schemas.openxmlformats.org/officeDocument/2006/relationships/image" Target="../media/image2.sv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2.svg"/><Relationship Id="rId10" Type="http://schemas.openxmlformats.org/officeDocument/2006/relationships/image" Target="../media/image14.svg"/><Relationship Id="rId4" Type="http://schemas.openxmlformats.org/officeDocument/2006/relationships/image" Target="../media/image7.svg"/><Relationship Id="rId9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2.svg"/><Relationship Id="rId10" Type="http://schemas.openxmlformats.org/officeDocument/2006/relationships/image" Target="../media/image15.png"/><Relationship Id="rId4" Type="http://schemas.openxmlformats.org/officeDocument/2006/relationships/image" Target="../media/image7.svg"/><Relationship Id="rId9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2.svg"/><Relationship Id="rId10" Type="http://schemas.openxmlformats.org/officeDocument/2006/relationships/image" Target="../media/image16.png"/><Relationship Id="rId4" Type="http://schemas.openxmlformats.org/officeDocument/2006/relationships/image" Target="../media/image7.svg"/><Relationship Id="rId9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image" Target="../media/image4.svg"/><Relationship Id="rId7" Type="http://schemas.openxmlformats.org/officeDocument/2006/relationships/image" Target="../media/image7.svg"/><Relationship Id="rId12" Type="http://schemas.openxmlformats.org/officeDocument/2006/relationships/image" Target="../media/image19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8.png"/><Relationship Id="rId5" Type="http://schemas.openxmlformats.org/officeDocument/2006/relationships/image" Target="../media/image13.svg"/><Relationship Id="rId10" Type="http://schemas.openxmlformats.org/officeDocument/2006/relationships/image" Target="../media/image3.svg"/><Relationship Id="rId4" Type="http://schemas.openxmlformats.org/officeDocument/2006/relationships/image" Target="../media/image17.svg"/><Relationship Id="rId9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image" Target="../media/image20.svg"/><Relationship Id="rId7" Type="http://schemas.openxmlformats.org/officeDocument/2006/relationships/image" Target="../media/image7.svg"/><Relationship Id="rId12" Type="http://schemas.openxmlformats.org/officeDocument/2006/relationships/image" Target="../media/image21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3.svg"/><Relationship Id="rId5" Type="http://schemas.openxmlformats.org/officeDocument/2006/relationships/image" Target="../media/image13.svg"/><Relationship Id="rId10" Type="http://schemas.openxmlformats.org/officeDocument/2006/relationships/image" Target="../media/image2.svg"/><Relationship Id="rId4" Type="http://schemas.openxmlformats.org/officeDocument/2006/relationships/image" Target="../media/image17.svg"/><Relationship Id="rId9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image" Target="../media/image20.svg"/><Relationship Id="rId7" Type="http://schemas.openxmlformats.org/officeDocument/2006/relationships/image" Target="../media/image7.svg"/><Relationship Id="rId12" Type="http://schemas.openxmlformats.org/officeDocument/2006/relationships/image" Target="../media/image22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3.svg"/><Relationship Id="rId5" Type="http://schemas.openxmlformats.org/officeDocument/2006/relationships/image" Target="../media/image13.svg"/><Relationship Id="rId10" Type="http://schemas.openxmlformats.org/officeDocument/2006/relationships/image" Target="../media/image2.svg"/><Relationship Id="rId4" Type="http://schemas.openxmlformats.org/officeDocument/2006/relationships/image" Target="../media/image17.svg"/><Relationship Id="rId9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image" Target="../media/image20.svg"/><Relationship Id="rId7" Type="http://schemas.openxmlformats.org/officeDocument/2006/relationships/image" Target="../media/image7.svg"/><Relationship Id="rId12" Type="http://schemas.openxmlformats.org/officeDocument/2006/relationships/image" Target="../media/image23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3.svg"/><Relationship Id="rId5" Type="http://schemas.openxmlformats.org/officeDocument/2006/relationships/image" Target="../media/image13.svg"/><Relationship Id="rId10" Type="http://schemas.openxmlformats.org/officeDocument/2006/relationships/image" Target="../media/image2.svg"/><Relationship Id="rId4" Type="http://schemas.openxmlformats.org/officeDocument/2006/relationships/image" Target="../media/image17.svg"/><Relationship Id="rId9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image" Target="../media/image20.svg"/><Relationship Id="rId7" Type="http://schemas.openxmlformats.org/officeDocument/2006/relationships/image" Target="../media/image7.svg"/><Relationship Id="rId12" Type="http://schemas.openxmlformats.org/officeDocument/2006/relationships/image" Target="../media/image23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3.svg"/><Relationship Id="rId5" Type="http://schemas.openxmlformats.org/officeDocument/2006/relationships/image" Target="../media/image13.svg"/><Relationship Id="rId10" Type="http://schemas.openxmlformats.org/officeDocument/2006/relationships/image" Target="../media/image2.svg"/><Relationship Id="rId4" Type="http://schemas.openxmlformats.org/officeDocument/2006/relationships/image" Target="../media/image17.svg"/><Relationship Id="rId9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13" Type="http://schemas.openxmlformats.org/officeDocument/2006/relationships/image" Target="../media/image25.jpeg"/><Relationship Id="rId3" Type="http://schemas.openxmlformats.org/officeDocument/2006/relationships/image" Target="../media/image20.svg"/><Relationship Id="rId7" Type="http://schemas.openxmlformats.org/officeDocument/2006/relationships/image" Target="../media/image7.svg"/><Relationship Id="rId12" Type="http://schemas.openxmlformats.org/officeDocument/2006/relationships/image" Target="../media/image24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3.svg"/><Relationship Id="rId5" Type="http://schemas.openxmlformats.org/officeDocument/2006/relationships/image" Target="../media/image13.svg"/><Relationship Id="rId10" Type="http://schemas.openxmlformats.org/officeDocument/2006/relationships/image" Target="../media/image2.svg"/><Relationship Id="rId4" Type="http://schemas.openxmlformats.org/officeDocument/2006/relationships/image" Target="../media/image17.svg"/><Relationship Id="rId9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13" Type="http://schemas.openxmlformats.org/officeDocument/2006/relationships/image" Target="../media/image26.jpeg"/><Relationship Id="rId3" Type="http://schemas.openxmlformats.org/officeDocument/2006/relationships/image" Target="../media/image20.svg"/><Relationship Id="rId7" Type="http://schemas.openxmlformats.org/officeDocument/2006/relationships/image" Target="../media/image7.svg"/><Relationship Id="rId12" Type="http://schemas.openxmlformats.org/officeDocument/2006/relationships/image" Target="../media/image24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3.svg"/><Relationship Id="rId5" Type="http://schemas.openxmlformats.org/officeDocument/2006/relationships/image" Target="../media/image13.svg"/><Relationship Id="rId10" Type="http://schemas.openxmlformats.org/officeDocument/2006/relationships/image" Target="../media/image2.svg"/><Relationship Id="rId4" Type="http://schemas.openxmlformats.org/officeDocument/2006/relationships/image" Target="../media/image17.svg"/><Relationship Id="rId9" Type="http://schemas.openxmlformats.org/officeDocument/2006/relationships/image" Target="../media/image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13" Type="http://schemas.openxmlformats.org/officeDocument/2006/relationships/image" Target="../media/image27.png"/><Relationship Id="rId3" Type="http://schemas.openxmlformats.org/officeDocument/2006/relationships/image" Target="../media/image20.svg"/><Relationship Id="rId7" Type="http://schemas.openxmlformats.org/officeDocument/2006/relationships/image" Target="../media/image7.svg"/><Relationship Id="rId12" Type="http://schemas.openxmlformats.org/officeDocument/2006/relationships/image" Target="../media/image24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3.svg"/><Relationship Id="rId5" Type="http://schemas.openxmlformats.org/officeDocument/2006/relationships/image" Target="../media/image13.svg"/><Relationship Id="rId10" Type="http://schemas.openxmlformats.org/officeDocument/2006/relationships/image" Target="../media/image2.svg"/><Relationship Id="rId4" Type="http://schemas.openxmlformats.org/officeDocument/2006/relationships/image" Target="../media/image17.svg"/><Relationship Id="rId9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29.jpeg"/><Relationship Id="rId3" Type="http://schemas.openxmlformats.org/officeDocument/2006/relationships/image" Target="../media/image28.svg"/><Relationship Id="rId7" Type="http://schemas.openxmlformats.org/officeDocument/2006/relationships/image" Target="../media/image10.svg"/><Relationship Id="rId12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2.svg"/><Relationship Id="rId5" Type="http://schemas.openxmlformats.org/officeDocument/2006/relationships/image" Target="../media/image17.svg"/><Relationship Id="rId10" Type="http://schemas.openxmlformats.org/officeDocument/2006/relationships/image" Target="../media/image5.svg"/><Relationship Id="rId4" Type="http://schemas.openxmlformats.org/officeDocument/2006/relationships/image" Target="../media/image20.svg"/><Relationship Id="rId9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18288000" cy="10189489"/>
            <a:chOff x="0" y="0"/>
            <a:chExt cx="24384000" cy="1358598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8420761" cy="9377408"/>
            </a:xfrm>
            <a:custGeom>
              <a:avLst/>
              <a:gdLst/>
              <a:ahLst/>
              <a:cxnLst/>
              <a:rect l="l" t="t" r="r" b="b"/>
              <a:pathLst>
                <a:path w="18420761" h="9377408">
                  <a:moveTo>
                    <a:pt x="18420761" y="0"/>
                  </a:moveTo>
                  <a:lnTo>
                    <a:pt x="0" y="0"/>
                  </a:lnTo>
                  <a:lnTo>
                    <a:pt x="0" y="9377408"/>
                  </a:lnTo>
                  <a:lnTo>
                    <a:pt x="18420761" y="9377408"/>
                  </a:lnTo>
                  <a:lnTo>
                    <a:pt x="18420761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" name="Group 4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1269175" y="7986088"/>
            <a:ext cx="15680175" cy="816907"/>
            <a:chOff x="0" y="0"/>
            <a:chExt cx="7800667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800667" cy="406400"/>
            </a:xfrm>
            <a:custGeom>
              <a:avLst/>
              <a:gdLst/>
              <a:ahLst/>
              <a:cxnLst/>
              <a:rect l="l" t="t" r="r" b="b"/>
              <a:pathLst>
                <a:path w="7800667" h="406400">
                  <a:moveTo>
                    <a:pt x="7597467" y="0"/>
                  </a:moveTo>
                  <a:cubicBezTo>
                    <a:pt x="7709691" y="0"/>
                    <a:pt x="7800667" y="90976"/>
                    <a:pt x="7800667" y="203200"/>
                  </a:cubicBezTo>
                  <a:cubicBezTo>
                    <a:pt x="7800667" y="315424"/>
                    <a:pt x="7709691" y="406400"/>
                    <a:pt x="759746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7800667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685272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1" name="AutoShape 11"/>
          <p:cNvSpPr/>
          <p:nvPr/>
        </p:nvSpPr>
        <p:spPr>
          <a:xfrm rot="-10800000">
            <a:off x="168470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2" name="Freeform 12"/>
          <p:cNvSpPr/>
          <p:nvPr/>
        </p:nvSpPr>
        <p:spPr>
          <a:xfrm>
            <a:off x="1200150" y="1443766"/>
            <a:ext cx="309499" cy="319371"/>
          </a:xfrm>
          <a:custGeom>
            <a:avLst/>
            <a:gdLst/>
            <a:ahLst/>
            <a:cxnLst/>
            <a:rect l="l" t="t" r="r" b="b"/>
            <a:pathLst>
              <a:path w="309499" h="319371">
                <a:moveTo>
                  <a:pt x="0" y="0"/>
                </a:moveTo>
                <a:lnTo>
                  <a:pt x="309499" y="0"/>
                </a:lnTo>
                <a:lnTo>
                  <a:pt x="309499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600768" y="1348239"/>
            <a:ext cx="15658532" cy="510426"/>
            <a:chOff x="0" y="0"/>
            <a:chExt cx="12467294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467294" cy="406400"/>
            </a:xfrm>
            <a:custGeom>
              <a:avLst/>
              <a:gdLst/>
              <a:ahLst/>
              <a:cxnLst/>
              <a:rect l="l" t="t" r="r" b="b"/>
              <a:pathLst>
                <a:path w="12467294" h="406400">
                  <a:moveTo>
                    <a:pt x="12264094" y="0"/>
                  </a:moveTo>
                  <a:cubicBezTo>
                    <a:pt x="12376318" y="0"/>
                    <a:pt x="12467294" y="90976"/>
                    <a:pt x="12467294" y="203200"/>
                  </a:cubicBezTo>
                  <a:cubicBezTo>
                    <a:pt x="12467294" y="315424"/>
                    <a:pt x="12376318" y="406400"/>
                    <a:pt x="1226409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C5C6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2467294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752902" y="1443766"/>
            <a:ext cx="333943" cy="319371"/>
          </a:xfrm>
          <a:custGeom>
            <a:avLst/>
            <a:gdLst/>
            <a:ahLst/>
            <a:cxnLst/>
            <a:rect l="l" t="t" r="r" b="b"/>
            <a:pathLst>
              <a:path w="333943" h="319371">
                <a:moveTo>
                  <a:pt x="0" y="0"/>
                </a:moveTo>
                <a:lnTo>
                  <a:pt x="333942" y="0"/>
                </a:lnTo>
                <a:lnTo>
                  <a:pt x="333942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340184" y="265439"/>
            <a:ext cx="604587" cy="60458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AC96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4259017" y="453433"/>
            <a:ext cx="304376" cy="294415"/>
          </a:xfrm>
          <a:custGeom>
            <a:avLst/>
            <a:gdLst/>
            <a:ahLst/>
            <a:cxnLst/>
            <a:rect l="l" t="t" r="r" b="b"/>
            <a:pathLst>
              <a:path w="304376" h="294415">
                <a:moveTo>
                  <a:pt x="0" y="0"/>
                </a:moveTo>
                <a:lnTo>
                  <a:pt x="304376" y="0"/>
                </a:lnTo>
                <a:lnTo>
                  <a:pt x="304376" y="294415"/>
                </a:lnTo>
                <a:lnTo>
                  <a:pt x="0" y="2944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845319" y="453433"/>
            <a:ext cx="294415" cy="294415"/>
          </a:xfrm>
          <a:custGeom>
            <a:avLst/>
            <a:gdLst/>
            <a:ahLst/>
            <a:cxnLst/>
            <a:rect l="l" t="t" r="r" b="b"/>
            <a:pathLst>
              <a:path w="294415" h="294415">
                <a:moveTo>
                  <a:pt x="0" y="0"/>
                </a:moveTo>
                <a:lnTo>
                  <a:pt x="294415" y="0"/>
                </a:lnTo>
                <a:lnTo>
                  <a:pt x="294415" y="294415"/>
                </a:lnTo>
                <a:lnTo>
                  <a:pt x="0" y="2944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365170" y="1858664"/>
            <a:ext cx="5488186" cy="3658790"/>
          </a:xfrm>
          <a:custGeom>
            <a:avLst/>
            <a:gdLst/>
            <a:ahLst/>
            <a:cxnLst/>
            <a:rect l="l" t="t" r="r" b="b"/>
            <a:pathLst>
              <a:path w="5488186" h="3658790">
                <a:moveTo>
                  <a:pt x="0" y="0"/>
                </a:moveTo>
                <a:lnTo>
                  <a:pt x="5488185" y="0"/>
                </a:lnTo>
                <a:lnTo>
                  <a:pt x="5488185" y="3658791"/>
                </a:lnTo>
                <a:lnTo>
                  <a:pt x="0" y="36587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2751594" y="4778893"/>
            <a:ext cx="13356880" cy="312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30"/>
              </a:lnSpc>
            </a:pPr>
            <a:r>
              <a:rPr lang="en-US" sz="10275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Project Akhir Pemrograman Web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58294" y="1368501"/>
            <a:ext cx="870774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48494E"/>
                </a:solidFill>
                <a:latin typeface="Open Sauce"/>
                <a:ea typeface="Open Sauce"/>
                <a:cs typeface="Open Sauce"/>
                <a:sym typeface="Open Sauce"/>
              </a:rPr>
              <a:t>Ginyard International Co.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69319" y="8018527"/>
            <a:ext cx="1414936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Digital Product Store – Aplikasi Toko Produk Digital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09649" y="405808"/>
            <a:ext cx="274936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Title Page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18288000" cy="10189489"/>
            <a:chOff x="0" y="0"/>
            <a:chExt cx="24384000" cy="1358598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1987952" y="421064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5" name="Freeform 5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8136550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8902535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5" y="0"/>
                  </a:lnTo>
                  <a:lnTo>
                    <a:pt x="387695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4516099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Reporters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2" name="AutoShape 12"/>
            <p:cNvSpPr/>
            <p:nvPr/>
          </p:nvSpPr>
          <p:spPr>
            <a:xfrm>
              <a:off x="913696" y="200792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3" name="AutoShape 13"/>
            <p:cNvSpPr/>
            <p:nvPr/>
          </p:nvSpPr>
          <p:spPr>
            <a:xfrm rot="-10800000">
              <a:off x="224626" y="200792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" name="Freeform 14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5" name="Group 15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9" name="Group 19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CB248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Nama Mahasiswa &amp; Nama Dosen Pengampu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665598" y="4781140"/>
            <a:ext cx="3138847" cy="3138835"/>
            <a:chOff x="0" y="0"/>
            <a:chExt cx="6350000" cy="634997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2324408" y="4781140"/>
            <a:ext cx="3138847" cy="3138835"/>
            <a:chOff x="0" y="0"/>
            <a:chExt cx="6350000" cy="63499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9"/>
              <a:stretch>
                <a:fillRect l="-78303" r="-78303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1417563" y="3164409"/>
            <a:ext cx="5634916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0"/>
              </a:lnSpc>
            </a:pPr>
            <a:r>
              <a:rPr lang="en-US" sz="5758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Mahasiswa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7552" y="8106131"/>
            <a:ext cx="7194939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Andika Abdi Putra Septianto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07863" y="8853170"/>
            <a:ext cx="3054316" cy="405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202410715256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774497" y="2726259"/>
            <a:ext cx="6238670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0"/>
              </a:lnSpc>
            </a:pPr>
            <a:r>
              <a:rPr lang="en-US" sz="5758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Dosen Pengampu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064361" y="8106131"/>
            <a:ext cx="7194939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Adi Muhajirin, M.KOM., M.M.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366674" y="8853170"/>
            <a:ext cx="3054316" cy="405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021503028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18288000" cy="10189489"/>
            <a:chOff x="0" y="0"/>
            <a:chExt cx="24384000" cy="1358598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1987952" y="421064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5" name="Freeform 5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6" name="Group 6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4516099" y="421064"/>
              <a:ext cx="234811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Reporters</a:t>
              </a: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913696" y="200792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" name="AutoShape 11"/>
            <p:cNvSpPr/>
            <p:nvPr/>
          </p:nvSpPr>
          <p:spPr>
            <a:xfrm rot="-10800000">
              <a:off x="224626" y="200792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2" name="Freeform 12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0852961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1" y="0"/>
                  </a:lnTo>
                  <a:lnTo>
                    <a:pt x="400811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1618946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6" name="Group 16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0" name="Group 20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356A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7232510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Insert your topic here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859595" y="2793173"/>
            <a:ext cx="8399705" cy="6465127"/>
            <a:chOff x="0" y="0"/>
            <a:chExt cx="11199607" cy="8620170"/>
          </a:xfrm>
        </p:grpSpPr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9"/>
            <a:srcRect l="6692" r="6692"/>
            <a:stretch>
              <a:fillRect/>
            </a:stretch>
          </p:blipFill>
          <p:spPr>
            <a:xfrm>
              <a:off x="0" y="0"/>
              <a:ext cx="11199607" cy="8620170"/>
            </a:xfrm>
            <a:prstGeom prst="rect">
              <a:avLst/>
            </a:prstGeom>
          </p:spPr>
        </p:pic>
      </p:grpSp>
      <p:sp>
        <p:nvSpPr>
          <p:cNvPr id="27" name="TextBox 27"/>
          <p:cNvSpPr txBox="1"/>
          <p:nvPr/>
        </p:nvSpPr>
        <p:spPr>
          <a:xfrm>
            <a:off x="621619" y="2607402"/>
            <a:ext cx="8854194" cy="113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32"/>
              </a:lnSpc>
            </a:pPr>
            <a:r>
              <a:rPr lang="en-US" sz="7443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LATAR BELAKANG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1619" y="4144927"/>
            <a:ext cx="8069667" cy="5456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0765" lvl="1" indent="-325382" algn="l">
              <a:lnSpc>
                <a:spcPts val="3918"/>
              </a:lnSpc>
              <a:buFont typeface="Arial"/>
              <a:buChar char="•"/>
            </a:pPr>
            <a:r>
              <a:rPr lang="en-US" sz="301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Meningkatnya kebutuhan produk digital (ebook, template, software, audio, video)</a:t>
            </a:r>
          </a:p>
          <a:p>
            <a:pPr marL="650765" lvl="1" indent="-325382" algn="l">
              <a:lnSpc>
                <a:spcPts val="3918"/>
              </a:lnSpc>
              <a:buFont typeface="Arial"/>
              <a:buChar char="•"/>
            </a:pPr>
            <a:r>
              <a:rPr lang="en-US" sz="301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Platform jual-beli produk digital masih terbatas dan tidak terstruktur</a:t>
            </a:r>
          </a:p>
          <a:p>
            <a:pPr marL="650765" lvl="1" indent="-325382" algn="l">
              <a:lnSpc>
                <a:spcPts val="3918"/>
              </a:lnSpc>
              <a:buFont typeface="Arial"/>
              <a:buChar char="•"/>
            </a:pPr>
            <a:r>
              <a:rPr lang="en-US" sz="301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Perlu sistem yang aman, mudah digunakan, dan terintegrasi dengan pembayaran</a:t>
            </a:r>
          </a:p>
          <a:p>
            <a:pPr marL="650765" lvl="1" indent="-325382" algn="l">
              <a:lnSpc>
                <a:spcPts val="3918"/>
              </a:lnSpc>
              <a:buFont typeface="Arial"/>
              <a:buChar char="•"/>
            </a:pPr>
            <a:r>
              <a:rPr lang="en-US" sz="301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Proyek ini dibuat sebagai solusi untuk menjawab kebutuhan tersebut</a:t>
            </a:r>
          </a:p>
          <a:p>
            <a:pPr algn="l">
              <a:lnSpc>
                <a:spcPts val="3918"/>
              </a:lnSpc>
            </a:pPr>
            <a:endParaRPr lang="en-US" sz="3014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18288000" cy="10189489"/>
            <a:chOff x="0" y="0"/>
            <a:chExt cx="24384000" cy="1358598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1987952" y="406591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5" name="Freeform 5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4516099" y="406591"/>
              <a:ext cx="234811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Reporters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0" name="AutoShape 10"/>
            <p:cNvSpPr/>
            <p:nvPr/>
          </p:nvSpPr>
          <p:spPr>
            <a:xfrm>
              <a:off x="913696" y="200792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" name="AutoShape 11"/>
            <p:cNvSpPr/>
            <p:nvPr/>
          </p:nvSpPr>
          <p:spPr>
            <a:xfrm rot="-10800000">
              <a:off x="224626" y="200792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2" name="Freeform 12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0852961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1" y="0"/>
                  </a:lnTo>
                  <a:lnTo>
                    <a:pt x="400811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1618946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6" name="Group 16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0" name="Group 20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356A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7232510" y="406591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Insert your topic here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1200150" y="4207582"/>
            <a:ext cx="2868875" cy="1871836"/>
          </a:xfrm>
          <a:custGeom>
            <a:avLst/>
            <a:gdLst/>
            <a:ahLst/>
            <a:cxnLst/>
            <a:rect l="l" t="t" r="r" b="b"/>
            <a:pathLst>
              <a:path w="2868875" h="1871836">
                <a:moveTo>
                  <a:pt x="0" y="0"/>
                </a:moveTo>
                <a:lnTo>
                  <a:pt x="2868875" y="0"/>
                </a:lnTo>
                <a:lnTo>
                  <a:pt x="2868875" y="1871836"/>
                </a:lnTo>
                <a:lnTo>
                  <a:pt x="0" y="18718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9474868" y="3839719"/>
            <a:ext cx="1898136" cy="2323001"/>
          </a:xfrm>
          <a:custGeom>
            <a:avLst/>
            <a:gdLst/>
            <a:ahLst/>
            <a:cxnLst/>
            <a:rect l="l" t="t" r="r" b="b"/>
            <a:pathLst>
              <a:path w="1898136" h="2323001">
                <a:moveTo>
                  <a:pt x="0" y="0"/>
                </a:moveTo>
                <a:lnTo>
                  <a:pt x="1898136" y="0"/>
                </a:lnTo>
                <a:lnTo>
                  <a:pt x="1898136" y="2323001"/>
                </a:lnTo>
                <a:lnTo>
                  <a:pt x="0" y="23230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075163" y="6381534"/>
            <a:ext cx="7737969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Tujuan 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6487" y="7138670"/>
            <a:ext cx="7737969" cy="297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Memudahkan penjual (seller) mengelola produk digital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Memudahkan pembeli (buyer) membeli dan mengunduh produk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Menyediakan admin panel untuk moderasi dan kontrol</a:t>
            </a:r>
          </a:p>
          <a:p>
            <a:pPr algn="l">
              <a:lnSpc>
                <a:spcPts val="3380"/>
              </a:lnSpc>
            </a:pPr>
            <a:endParaRPr lang="en-US" sz="26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474868" y="6381534"/>
            <a:ext cx="7737969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Manfaat 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44000" y="7212114"/>
            <a:ext cx="7737969" cy="211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Efisiensi waktu transaksi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Keamanan data pengguna (hashing password, prepared statement)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Otomatisasi pembayaran dan notifikasi</a:t>
            </a:r>
          </a:p>
          <a:p>
            <a:pPr algn="l">
              <a:lnSpc>
                <a:spcPts val="3380"/>
              </a:lnSpc>
            </a:pPr>
            <a:endParaRPr lang="en-US" sz="26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28700" y="2252080"/>
            <a:ext cx="14395014" cy="131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09"/>
              </a:lnSpc>
              <a:spcBef>
                <a:spcPct val="0"/>
              </a:spcBef>
            </a:pPr>
            <a:r>
              <a:rPr lang="en-US" sz="764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TUJUAN &amp; MANFAAT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19649964" cy="10189489"/>
            <a:chOff x="0" y="0"/>
            <a:chExt cx="26199952" cy="1358598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2012865" y="421064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5" name="Freeform 5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4541013" y="421064"/>
              <a:ext cx="234811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Reporters</a:t>
              </a:r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8" name="Group 8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1" name="AutoShape 11"/>
            <p:cNvSpPr/>
            <p:nvPr/>
          </p:nvSpPr>
          <p:spPr>
            <a:xfrm>
              <a:off x="913696" y="200792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2" name="AutoShape 12"/>
            <p:cNvSpPr/>
            <p:nvPr/>
          </p:nvSpPr>
          <p:spPr>
            <a:xfrm rot="-10800000">
              <a:off x="224626" y="200792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3" name="Freeform 13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7257423" y="421064"/>
              <a:ext cx="2762629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sp>
          <p:nvSpPr>
            <p:cNvPr id="15" name="Freeform 15"/>
            <p:cNvSpPr/>
            <p:nvPr/>
          </p:nvSpPr>
          <p:spPr>
            <a:xfrm flipH="1">
              <a:off x="800718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3615590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1" y="0"/>
                  </a:lnTo>
                  <a:lnTo>
                    <a:pt x="400811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4381575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2" name="Group 22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D84BC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020052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Overview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Insert your topic here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56986" y="4516139"/>
            <a:ext cx="4881704" cy="1118777"/>
            <a:chOff x="0" y="0"/>
            <a:chExt cx="1773297" cy="406400"/>
          </a:xfrm>
        </p:grpSpPr>
        <p:sp>
          <p:nvSpPr>
            <p:cNvPr id="28" name="Freeform 28"/>
            <p:cNvSpPr/>
            <p:nvPr/>
          </p:nvSpPr>
          <p:spPr>
            <a:xfrm>
              <a:off x="17780" y="22860"/>
              <a:ext cx="1747897" cy="360680"/>
            </a:xfrm>
            <a:custGeom>
              <a:avLst/>
              <a:gdLst/>
              <a:ahLst/>
              <a:cxnLst/>
              <a:rect l="l" t="t" r="r" b="b"/>
              <a:pathLst>
                <a:path w="1747897" h="360680">
                  <a:moveTo>
                    <a:pt x="1747897" y="180340"/>
                  </a:moveTo>
                  <a:cubicBezTo>
                    <a:pt x="1747897" y="81280"/>
                    <a:pt x="1667887" y="0"/>
                    <a:pt x="1567557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1567557" y="360680"/>
                  </a:lnTo>
                  <a:cubicBezTo>
                    <a:pt x="1666617" y="360680"/>
                    <a:pt x="1747897" y="279400"/>
                    <a:pt x="1747897" y="180340"/>
                  </a:cubicBezTo>
                  <a:close/>
                </a:path>
              </a:pathLst>
            </a:custGeom>
            <a:solidFill>
              <a:srgbClr val="C4C5C6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6108251" y="4516139"/>
            <a:ext cx="4881704" cy="1118777"/>
            <a:chOff x="0" y="0"/>
            <a:chExt cx="1773297" cy="406400"/>
          </a:xfrm>
        </p:grpSpPr>
        <p:sp>
          <p:nvSpPr>
            <p:cNvPr id="30" name="Freeform 30"/>
            <p:cNvSpPr/>
            <p:nvPr/>
          </p:nvSpPr>
          <p:spPr>
            <a:xfrm>
              <a:off x="17780" y="22860"/>
              <a:ext cx="1747897" cy="360680"/>
            </a:xfrm>
            <a:custGeom>
              <a:avLst/>
              <a:gdLst/>
              <a:ahLst/>
              <a:cxnLst/>
              <a:rect l="l" t="t" r="r" b="b"/>
              <a:pathLst>
                <a:path w="1747897" h="360680">
                  <a:moveTo>
                    <a:pt x="1747897" y="180340"/>
                  </a:moveTo>
                  <a:cubicBezTo>
                    <a:pt x="1747897" y="81280"/>
                    <a:pt x="1667887" y="0"/>
                    <a:pt x="1567557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1567557" y="360680"/>
                  </a:lnTo>
                  <a:cubicBezTo>
                    <a:pt x="1666617" y="360680"/>
                    <a:pt x="1747897" y="279400"/>
                    <a:pt x="1747897" y="180340"/>
                  </a:cubicBezTo>
                  <a:close/>
                </a:path>
              </a:pathLst>
            </a:custGeom>
            <a:solidFill>
              <a:srgbClr val="C4C5C6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1359516" y="4516139"/>
            <a:ext cx="4881704" cy="1118777"/>
            <a:chOff x="0" y="0"/>
            <a:chExt cx="1773297" cy="406400"/>
          </a:xfrm>
        </p:grpSpPr>
        <p:sp>
          <p:nvSpPr>
            <p:cNvPr id="32" name="Freeform 32"/>
            <p:cNvSpPr/>
            <p:nvPr/>
          </p:nvSpPr>
          <p:spPr>
            <a:xfrm>
              <a:off x="17780" y="22860"/>
              <a:ext cx="1747897" cy="360680"/>
            </a:xfrm>
            <a:custGeom>
              <a:avLst/>
              <a:gdLst/>
              <a:ahLst/>
              <a:cxnLst/>
              <a:rect l="l" t="t" r="r" b="b"/>
              <a:pathLst>
                <a:path w="1747897" h="360680">
                  <a:moveTo>
                    <a:pt x="1747897" y="180340"/>
                  </a:moveTo>
                  <a:cubicBezTo>
                    <a:pt x="1747897" y="81280"/>
                    <a:pt x="1667887" y="0"/>
                    <a:pt x="1567557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1567557" y="360680"/>
                  </a:lnTo>
                  <a:cubicBezTo>
                    <a:pt x="1666617" y="360680"/>
                    <a:pt x="1747897" y="279400"/>
                    <a:pt x="1747897" y="180340"/>
                  </a:cubicBezTo>
                  <a:close/>
                </a:path>
              </a:pathLst>
            </a:custGeom>
            <a:solidFill>
              <a:srgbClr val="C4C5C6"/>
            </a:solidFill>
          </p:spPr>
        </p:sp>
      </p:grpSp>
      <p:sp>
        <p:nvSpPr>
          <p:cNvPr id="33" name="Freeform 33"/>
          <p:cNvSpPr/>
          <p:nvPr/>
        </p:nvSpPr>
        <p:spPr>
          <a:xfrm>
            <a:off x="1071709" y="4208680"/>
            <a:ext cx="319354" cy="823033"/>
          </a:xfrm>
          <a:custGeom>
            <a:avLst/>
            <a:gdLst/>
            <a:ahLst/>
            <a:cxnLst/>
            <a:rect l="l" t="t" r="r" b="b"/>
            <a:pathLst>
              <a:path w="319354" h="823033">
                <a:moveTo>
                  <a:pt x="0" y="0"/>
                </a:moveTo>
                <a:lnTo>
                  <a:pt x="319354" y="0"/>
                </a:lnTo>
                <a:lnTo>
                  <a:pt x="319354" y="823033"/>
                </a:lnTo>
                <a:lnTo>
                  <a:pt x="0" y="823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6600255" y="4774538"/>
            <a:ext cx="396595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Buyer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851520" y="4774538"/>
            <a:ext cx="396595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Seller</a:t>
            </a:r>
          </a:p>
        </p:txBody>
      </p:sp>
      <p:sp>
        <p:nvSpPr>
          <p:cNvPr id="36" name="Freeform 36"/>
          <p:cNvSpPr/>
          <p:nvPr/>
        </p:nvSpPr>
        <p:spPr>
          <a:xfrm>
            <a:off x="6322974" y="4208680"/>
            <a:ext cx="319354" cy="823033"/>
          </a:xfrm>
          <a:custGeom>
            <a:avLst/>
            <a:gdLst/>
            <a:ahLst/>
            <a:cxnLst/>
            <a:rect l="l" t="t" r="r" b="b"/>
            <a:pathLst>
              <a:path w="319354" h="823033">
                <a:moveTo>
                  <a:pt x="0" y="0"/>
                </a:moveTo>
                <a:lnTo>
                  <a:pt x="319354" y="0"/>
                </a:lnTo>
                <a:lnTo>
                  <a:pt x="319354" y="823033"/>
                </a:lnTo>
                <a:lnTo>
                  <a:pt x="0" y="823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1574239" y="4208680"/>
            <a:ext cx="319354" cy="823033"/>
          </a:xfrm>
          <a:custGeom>
            <a:avLst/>
            <a:gdLst/>
            <a:ahLst/>
            <a:cxnLst/>
            <a:rect l="l" t="t" r="r" b="b"/>
            <a:pathLst>
              <a:path w="319354" h="823033">
                <a:moveTo>
                  <a:pt x="0" y="0"/>
                </a:moveTo>
                <a:lnTo>
                  <a:pt x="319354" y="0"/>
                </a:lnTo>
                <a:lnTo>
                  <a:pt x="319354" y="823033"/>
                </a:lnTo>
                <a:lnTo>
                  <a:pt x="0" y="823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933077" y="2468264"/>
            <a:ext cx="16083771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19"/>
              </a:lnSpc>
            </a:pPr>
            <a:r>
              <a:rPr lang="en-US" sz="85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FITUR UTAMA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31386" y="5878772"/>
            <a:ext cx="4201164" cy="2548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Dashboard grafik, Manajemen user, Manajemen kategori, Approve produk pending, Semua pesanan (filter, export CSV)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48989" y="4774538"/>
            <a:ext cx="396595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Admin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482651" y="5878772"/>
            <a:ext cx="4201164" cy="2548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Register/Login, Wishlist, Keranjang (AJAX), Checkout + Ongkir, Pembayaran, Download, Review &amp; Rating, Notifikasi (Email + In-app)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733916" y="5878772"/>
            <a:ext cx="4201164" cy="169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Dashboard statistik, CRUD produk, Lihat pesanan masuk, Konfirmasi pembayaran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19649964" cy="10189489"/>
            <a:chOff x="0" y="0"/>
            <a:chExt cx="26199952" cy="1358598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2012865" y="421064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5" name="Freeform 5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4541013" y="421064"/>
              <a:ext cx="234811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Reporters</a:t>
              </a:r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8" name="Group 8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1" name="AutoShape 11"/>
            <p:cNvSpPr/>
            <p:nvPr/>
          </p:nvSpPr>
          <p:spPr>
            <a:xfrm>
              <a:off x="913696" y="200792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2" name="AutoShape 12"/>
            <p:cNvSpPr/>
            <p:nvPr/>
          </p:nvSpPr>
          <p:spPr>
            <a:xfrm rot="-10800000">
              <a:off x="224626" y="200792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3" name="Freeform 13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7257423" y="421064"/>
              <a:ext cx="2762629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sp>
          <p:nvSpPr>
            <p:cNvPr id="15" name="Freeform 15"/>
            <p:cNvSpPr/>
            <p:nvPr/>
          </p:nvSpPr>
          <p:spPr>
            <a:xfrm flipH="1">
              <a:off x="800718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3615590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1" y="0"/>
                  </a:lnTo>
                  <a:lnTo>
                    <a:pt x="400811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7" name="Group 17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1" name="Group 21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D84BC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0020052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Overview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Insert your topic here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14381575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425044" y="3013094"/>
            <a:ext cx="8509881" cy="190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86"/>
              </a:lnSpc>
            </a:pPr>
            <a:r>
              <a:rPr lang="en-US" sz="6322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ARSITEKTUR SISTEM</a:t>
            </a:r>
          </a:p>
          <a:p>
            <a:pPr algn="l">
              <a:lnSpc>
                <a:spcPts val="7586"/>
              </a:lnSpc>
            </a:pPr>
            <a:endParaRPr lang="en-US" sz="6322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1030329" y="4155311"/>
            <a:ext cx="6834884" cy="5102989"/>
            <a:chOff x="0" y="0"/>
            <a:chExt cx="9113179" cy="6803985"/>
          </a:xfrm>
        </p:grpSpPr>
        <p:pic>
          <p:nvPicPr>
            <p:cNvPr id="29" name="Picture 29"/>
            <p:cNvPicPr>
              <a:picLocks noChangeAspect="1"/>
            </p:cNvPicPr>
            <p:nvPr/>
          </p:nvPicPr>
          <p:blipFill>
            <a:blip r:embed="rId10"/>
            <a:srcRect l="15430" r="15430"/>
            <a:stretch>
              <a:fillRect/>
            </a:stretch>
          </p:blipFill>
          <p:spPr>
            <a:xfrm>
              <a:off x="0" y="0"/>
              <a:ext cx="9113179" cy="6803985"/>
            </a:xfrm>
            <a:prstGeom prst="rect">
              <a:avLst/>
            </a:prstGeom>
          </p:spPr>
        </p:pic>
      </p:grpSp>
      <p:sp>
        <p:nvSpPr>
          <p:cNvPr id="30" name="TextBox 30"/>
          <p:cNvSpPr txBox="1"/>
          <p:nvPr/>
        </p:nvSpPr>
        <p:spPr>
          <a:xfrm>
            <a:off x="8934924" y="2788811"/>
            <a:ext cx="6332981" cy="1831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2149" lvl="1" indent="-241074" algn="l">
              <a:lnSpc>
                <a:spcPts val="2903"/>
              </a:lnSpc>
              <a:buFont typeface="Arial"/>
              <a:buChar char="•"/>
            </a:pPr>
            <a:r>
              <a:rPr lang="en-US" sz="22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Arsitektur MVC (Model-View-Controller) tanpa framework</a:t>
            </a:r>
          </a:p>
          <a:p>
            <a:pPr marL="482149" lvl="1" indent="-241074" algn="l">
              <a:lnSpc>
                <a:spcPts val="2903"/>
              </a:lnSpc>
              <a:buFont typeface="Arial"/>
              <a:buChar char="•"/>
            </a:pPr>
            <a:r>
              <a:rPr lang="en-US" sz="2233" b="1">
                <a:solidFill>
                  <a:srgbClr val="00000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Front Controller:</a:t>
            </a:r>
            <a:r>
              <a:rPr lang="en-US" sz="22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index.php + .htaccess (URL rewriting)</a:t>
            </a:r>
          </a:p>
          <a:p>
            <a:pPr algn="l">
              <a:lnSpc>
                <a:spcPts val="2903"/>
              </a:lnSpc>
            </a:pPr>
            <a:endParaRPr lang="en-US" sz="2233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141097" y="2148076"/>
            <a:ext cx="7373159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Beneficiaries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141097" y="5064652"/>
            <a:ext cx="9144000" cy="126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Request → .htaccess → index.php → Routing → Controller → Model/View</a:t>
            </a:r>
          </a:p>
          <a:p>
            <a:pPr algn="l">
              <a:lnSpc>
                <a:spcPts val="3380"/>
              </a:lnSpc>
            </a:pPr>
            <a:endParaRPr lang="en-US" sz="26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9141097" y="4415047"/>
            <a:ext cx="7373159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Diagram alur :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44000" y="6117874"/>
            <a:ext cx="7373159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Folder Structure 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934924" y="6691279"/>
            <a:ext cx="7373159" cy="3834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src/config/ – Konfigurasi database &amp; payment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src/controllers/ – Semua controller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src/models/ – Semua model (User, Product, Order, dll)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src/views/ – Template dan halaman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src/helpers/ – EmailHelper (PHPMailer)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public/assets/ – CSS, JS, uploads</a:t>
            </a:r>
          </a:p>
          <a:p>
            <a:pPr algn="l">
              <a:lnSpc>
                <a:spcPts val="3380"/>
              </a:lnSpc>
            </a:pPr>
            <a:endParaRPr lang="en-US" sz="26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19649964" cy="10189489"/>
            <a:chOff x="0" y="0"/>
            <a:chExt cx="26199952" cy="1358598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2012865" y="421064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5" name="Freeform 5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4541013" y="421064"/>
              <a:ext cx="234811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Reporters</a:t>
              </a:r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8" name="Group 8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1" name="AutoShape 11"/>
            <p:cNvSpPr/>
            <p:nvPr/>
          </p:nvSpPr>
          <p:spPr>
            <a:xfrm>
              <a:off x="913696" y="200792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2" name="AutoShape 12"/>
            <p:cNvSpPr/>
            <p:nvPr/>
          </p:nvSpPr>
          <p:spPr>
            <a:xfrm rot="-10800000">
              <a:off x="224626" y="200792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3" name="Freeform 13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7257423" y="421064"/>
              <a:ext cx="2762629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sp>
          <p:nvSpPr>
            <p:cNvPr id="15" name="Freeform 15"/>
            <p:cNvSpPr/>
            <p:nvPr/>
          </p:nvSpPr>
          <p:spPr>
            <a:xfrm flipH="1">
              <a:off x="800718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3615590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1" y="0"/>
                  </a:lnTo>
                  <a:lnTo>
                    <a:pt x="400811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7" name="Group 17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1" name="Group 21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D84BC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0020052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Overview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Insert your topic here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14381575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425044" y="3013094"/>
            <a:ext cx="8509881" cy="190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86"/>
              </a:lnSpc>
            </a:pPr>
            <a:r>
              <a:rPr lang="en-US" sz="6322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DATABASE SCHEMA</a:t>
            </a:r>
          </a:p>
          <a:p>
            <a:pPr algn="l">
              <a:lnSpc>
                <a:spcPts val="7586"/>
              </a:lnSpc>
            </a:pPr>
            <a:endParaRPr lang="en-US" sz="6322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1028700" y="4689401"/>
            <a:ext cx="7090318" cy="4568899"/>
            <a:chOff x="0" y="0"/>
            <a:chExt cx="9453758" cy="6091865"/>
          </a:xfrm>
        </p:grpSpPr>
        <p:pic>
          <p:nvPicPr>
            <p:cNvPr id="29" name="Picture 29"/>
            <p:cNvPicPr>
              <a:picLocks noChangeAspect="1"/>
            </p:cNvPicPr>
            <p:nvPr/>
          </p:nvPicPr>
          <p:blipFill>
            <a:blip r:embed="rId10"/>
            <a:srcRect t="798" b="798"/>
            <a:stretch>
              <a:fillRect/>
            </a:stretch>
          </p:blipFill>
          <p:spPr>
            <a:xfrm>
              <a:off x="0" y="0"/>
              <a:ext cx="9453758" cy="6091865"/>
            </a:xfrm>
            <a:prstGeom prst="rect">
              <a:avLst/>
            </a:prstGeom>
          </p:spPr>
        </p:pic>
      </p:grpSp>
      <p:sp>
        <p:nvSpPr>
          <p:cNvPr id="30" name="TextBox 30"/>
          <p:cNvSpPr txBox="1"/>
          <p:nvPr/>
        </p:nvSpPr>
        <p:spPr>
          <a:xfrm>
            <a:off x="9329771" y="2182185"/>
            <a:ext cx="7373159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Tabel utama 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44000" y="2994044"/>
            <a:ext cx="8115300" cy="683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users (id, name, email, password, role, remember_token)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categories (id, name)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products (id, seller_id, category_id, name, price, file_path, cover_image, status)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orders (id, buyer_id, total_amount, shipping_address, status, payment_token, ...)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order_items (id, order_id, product_id, quantity, price)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reviews (id, product_id, user_id, rating, comment, photo)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wishlists (id, user_id, product_id)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notifications (id, user_id, title, message, is_read)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payments (id, order_id, amount, status, transaction_id)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511"/>
            <a:ext cx="22517282" cy="10189489"/>
            <a:chOff x="0" y="0"/>
            <a:chExt cx="30023043" cy="13585985"/>
          </a:xfrm>
        </p:grpSpPr>
        <p:sp>
          <p:nvSpPr>
            <p:cNvPr id="3" name="Freeform 3"/>
            <p:cNvSpPr/>
            <p:nvPr/>
          </p:nvSpPr>
          <p:spPr>
            <a:xfrm>
              <a:off x="18204666" y="468689"/>
              <a:ext cx="387694" cy="387694"/>
            </a:xfrm>
            <a:custGeom>
              <a:avLst/>
              <a:gdLst/>
              <a:ahLst/>
              <a:cxnLst/>
              <a:rect l="l" t="t" r="r" b="b"/>
              <a:pathLst>
                <a:path w="387694" h="387694">
                  <a:moveTo>
                    <a:pt x="0" y="0"/>
                  </a:moveTo>
                  <a:lnTo>
                    <a:pt x="387694" y="0"/>
                  </a:lnTo>
                  <a:lnTo>
                    <a:pt x="387694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7438681" y="468689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0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2012865" y="421064"/>
              <a:ext cx="2164406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Title Page</a:t>
              </a:r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252814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4541013" y="421064"/>
              <a:ext cx="2348110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Reporters</a:t>
              </a:r>
            </a:p>
          </p:txBody>
        </p:sp>
        <p:sp>
          <p:nvSpPr>
            <p:cNvPr id="9" name="Freeform 9"/>
            <p:cNvSpPr/>
            <p:nvPr/>
          </p:nvSpPr>
          <p:spPr>
            <a:xfrm flipH="1">
              <a:off x="524455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flipH="1">
              <a:off x="8007187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flipH="1">
              <a:off x="11830278" y="0"/>
              <a:ext cx="18192765" cy="9261343"/>
            </a:xfrm>
            <a:custGeom>
              <a:avLst/>
              <a:gdLst/>
              <a:ahLst/>
              <a:cxnLst/>
              <a:rect l="l" t="t" r="r" b="b"/>
              <a:pathLst>
                <a:path w="18192765" h="9261343">
                  <a:moveTo>
                    <a:pt x="18192765" y="0"/>
                  </a:moveTo>
                  <a:lnTo>
                    <a:pt x="0" y="0"/>
                  </a:lnTo>
                  <a:lnTo>
                    <a:pt x="0" y="9261343"/>
                  </a:lnTo>
                  <a:lnTo>
                    <a:pt x="18192765" y="9261343"/>
                  </a:lnTo>
                  <a:lnTo>
                    <a:pt x="1819276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2" name="Group 12"/>
            <p:cNvGrpSpPr/>
            <p:nvPr/>
          </p:nvGrpSpPr>
          <p:grpSpPr>
            <a:xfrm>
              <a:off x="0" y="1358599"/>
              <a:ext cx="24384000" cy="12227387"/>
              <a:chOff x="0" y="0"/>
              <a:chExt cx="4862686" cy="2438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862686" cy="2438400"/>
              </a:xfrm>
              <a:custGeom>
                <a:avLst/>
                <a:gdLst/>
                <a:ahLst/>
                <a:cxnLst/>
                <a:rect l="l" t="t" r="r" b="b"/>
                <a:pathLst>
                  <a:path w="4862686" h="2438400">
                    <a:moveTo>
                      <a:pt x="0" y="0"/>
                    </a:moveTo>
                    <a:lnTo>
                      <a:pt x="4862686" y="0"/>
                    </a:lnTo>
                    <a:lnTo>
                      <a:pt x="486268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EFF0F2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4862686" cy="247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15" name="AutoShape 15"/>
            <p:cNvSpPr/>
            <p:nvPr/>
          </p:nvSpPr>
          <p:spPr>
            <a:xfrm>
              <a:off x="913696" y="200792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" name="AutoShape 16"/>
            <p:cNvSpPr/>
            <p:nvPr/>
          </p:nvSpPr>
          <p:spPr>
            <a:xfrm rot="-10800000">
              <a:off x="224626" y="2007920"/>
              <a:ext cx="457904" cy="0"/>
            </a:xfrm>
            <a:prstGeom prst="line">
              <a:avLst/>
            </a:prstGeom>
            <a:ln w="635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7" name="Freeform 17"/>
            <p:cNvSpPr/>
            <p:nvPr/>
          </p:nvSpPr>
          <p:spPr>
            <a:xfrm>
              <a:off x="1600200" y="1795007"/>
              <a:ext cx="412665" cy="425827"/>
            </a:xfrm>
            <a:custGeom>
              <a:avLst/>
              <a:gdLst/>
              <a:ahLst/>
              <a:cxnLst/>
              <a:rect l="l" t="t" r="r" b="b"/>
              <a:pathLst>
                <a:path w="412665" h="425827">
                  <a:moveTo>
                    <a:pt x="0" y="0"/>
                  </a:moveTo>
                  <a:lnTo>
                    <a:pt x="412665" y="0"/>
                  </a:lnTo>
                  <a:lnTo>
                    <a:pt x="412665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/>
            <p:nvPr/>
          </p:nvGrpSpPr>
          <p:grpSpPr>
            <a:xfrm>
              <a:off x="2134357" y="1667637"/>
              <a:ext cx="20878043" cy="680568"/>
              <a:chOff x="0" y="0"/>
              <a:chExt cx="12467294" cy="406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467294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2467294" h="406400">
                    <a:moveTo>
                      <a:pt x="12264094" y="0"/>
                    </a:moveTo>
                    <a:cubicBezTo>
                      <a:pt x="12376318" y="0"/>
                      <a:pt x="12467294" y="90976"/>
                      <a:pt x="12467294" y="203200"/>
                    </a:cubicBezTo>
                    <a:cubicBezTo>
                      <a:pt x="12467294" y="315424"/>
                      <a:pt x="12376318" y="406400"/>
                      <a:pt x="12264094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4C5C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12467294" cy="415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2337202" y="1795007"/>
              <a:ext cx="445257" cy="425827"/>
            </a:xfrm>
            <a:custGeom>
              <a:avLst/>
              <a:gdLst/>
              <a:ahLst/>
              <a:cxnLst/>
              <a:rect l="l" t="t" r="r" b="b"/>
              <a:pathLst>
                <a:path w="445257" h="425827">
                  <a:moveTo>
                    <a:pt x="0" y="0"/>
                  </a:moveTo>
                  <a:lnTo>
                    <a:pt x="445257" y="0"/>
                  </a:lnTo>
                  <a:lnTo>
                    <a:pt x="445257" y="425827"/>
                  </a:lnTo>
                  <a:lnTo>
                    <a:pt x="0" y="42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2" name="Group 22"/>
            <p:cNvGrpSpPr/>
            <p:nvPr/>
          </p:nvGrpSpPr>
          <p:grpSpPr>
            <a:xfrm>
              <a:off x="447964" y="221133"/>
              <a:ext cx="796139" cy="796139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356A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8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7257423" y="421064"/>
              <a:ext cx="2762629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20052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Overview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843143" y="421064"/>
              <a:ext cx="3620451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Tecknologi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11059" y="1710529"/>
              <a:ext cx="1161031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48494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Insert your topic here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17463594" y="483161"/>
              <a:ext cx="400812" cy="387694"/>
            </a:xfrm>
            <a:custGeom>
              <a:avLst/>
              <a:gdLst/>
              <a:ahLst/>
              <a:cxnLst/>
              <a:rect l="l" t="t" r="r" b="b"/>
              <a:pathLst>
                <a:path w="400812" h="387694">
                  <a:moveTo>
                    <a:pt x="0" y="0"/>
                  </a:moveTo>
                  <a:lnTo>
                    <a:pt x="400812" y="0"/>
                  </a:lnTo>
                  <a:lnTo>
                    <a:pt x="400812" y="387694"/>
                  </a:lnTo>
                  <a:lnTo>
                    <a:pt x="0" y="38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0" name="Freeform 30"/>
          <p:cNvSpPr/>
          <p:nvPr/>
        </p:nvSpPr>
        <p:spPr>
          <a:xfrm>
            <a:off x="4708447" y="3684356"/>
            <a:ext cx="11332567" cy="6016054"/>
          </a:xfrm>
          <a:custGeom>
            <a:avLst/>
            <a:gdLst/>
            <a:ahLst/>
            <a:cxnLst/>
            <a:rect l="l" t="t" r="r" b="b"/>
            <a:pathLst>
              <a:path w="11332567" h="6016054">
                <a:moveTo>
                  <a:pt x="0" y="0"/>
                </a:moveTo>
                <a:lnTo>
                  <a:pt x="11332566" y="0"/>
                </a:lnTo>
                <a:lnTo>
                  <a:pt x="11332566" y="6016054"/>
                </a:lnTo>
                <a:lnTo>
                  <a:pt x="0" y="60160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6929282" y="2379431"/>
            <a:ext cx="8786633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19"/>
              </a:lnSpc>
            </a:pPr>
            <a:r>
              <a:rPr lang="en-US" sz="85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TEKNOLOGI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-155587" y="1692545"/>
            <a:ext cx="5764456" cy="3983621"/>
            <a:chOff x="0" y="0"/>
            <a:chExt cx="1176154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76154" cy="812800"/>
            </a:xfrm>
            <a:custGeom>
              <a:avLst/>
              <a:gdLst/>
              <a:ahLst/>
              <a:cxnLst/>
              <a:rect l="l" t="t" r="r" b="b"/>
              <a:pathLst>
                <a:path w="1176154" h="812800">
                  <a:moveTo>
                    <a:pt x="30890" y="0"/>
                  </a:moveTo>
                  <a:lnTo>
                    <a:pt x="1145264" y="0"/>
                  </a:lnTo>
                  <a:cubicBezTo>
                    <a:pt x="1162324" y="0"/>
                    <a:pt x="1176154" y="13830"/>
                    <a:pt x="1176154" y="30890"/>
                  </a:cubicBezTo>
                  <a:lnTo>
                    <a:pt x="1176154" y="781910"/>
                  </a:lnTo>
                  <a:cubicBezTo>
                    <a:pt x="1176154" y="798970"/>
                    <a:pt x="1162324" y="812800"/>
                    <a:pt x="1145264" y="812800"/>
                  </a:cubicBezTo>
                  <a:lnTo>
                    <a:pt x="30890" y="812800"/>
                  </a:lnTo>
                  <a:cubicBezTo>
                    <a:pt x="13830" y="812800"/>
                    <a:pt x="0" y="798970"/>
                    <a:pt x="0" y="781910"/>
                  </a:cubicBezTo>
                  <a:lnTo>
                    <a:pt x="0" y="30890"/>
                  </a:lnTo>
                  <a:cubicBezTo>
                    <a:pt x="0" y="13830"/>
                    <a:pt x="13830" y="0"/>
                    <a:pt x="30890" y="0"/>
                  </a:cubicBezTo>
                  <a:close/>
                </a:path>
              </a:pathLst>
            </a:custGeom>
            <a:blipFill>
              <a:blip r:embed="rId12"/>
              <a:stretch>
                <a:fillRect l="-1829" r="-1829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79011" y="449028"/>
            <a:ext cx="300609" cy="290771"/>
          </a:xfrm>
          <a:custGeom>
            <a:avLst/>
            <a:gdLst/>
            <a:ahLst/>
            <a:cxnLst/>
            <a:rect l="l" t="t" r="r" b="b"/>
            <a:pathLst>
              <a:path w="300609" h="290771">
                <a:moveTo>
                  <a:pt x="0" y="0"/>
                </a:moveTo>
                <a:lnTo>
                  <a:pt x="300608" y="0"/>
                </a:lnTo>
                <a:lnTo>
                  <a:pt x="300608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09649" y="401403"/>
            <a:ext cx="162330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Title Page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89611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05760" y="401403"/>
            <a:ext cx="17610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Reporters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3933418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600539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8872708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335973" y="263361"/>
            <a:ext cx="597104" cy="59710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AC9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382357" y="401403"/>
            <a:ext cx="183615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Technologi</a:t>
            </a:r>
          </a:p>
        </p:txBody>
      </p:sp>
      <p:sp>
        <p:nvSpPr>
          <p:cNvPr id="14" name="Freeform 14"/>
          <p:cNvSpPr/>
          <p:nvPr/>
        </p:nvSpPr>
        <p:spPr>
          <a:xfrm flipH="1">
            <a:off x="10966034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3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3" y="6946007"/>
                </a:lnTo>
                <a:lnTo>
                  <a:pt x="136445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191021" y="459882"/>
            <a:ext cx="300609" cy="290771"/>
          </a:xfrm>
          <a:custGeom>
            <a:avLst/>
            <a:gdLst/>
            <a:ahLst/>
            <a:cxnLst/>
            <a:rect l="l" t="t" r="r" b="b"/>
            <a:pathLst>
              <a:path w="300609" h="290771">
                <a:moveTo>
                  <a:pt x="0" y="0"/>
                </a:moveTo>
                <a:lnTo>
                  <a:pt x="300609" y="0"/>
                </a:lnTo>
                <a:lnTo>
                  <a:pt x="300609" y="290771"/>
                </a:lnTo>
                <a:lnTo>
                  <a:pt x="0" y="2907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746825" y="449028"/>
            <a:ext cx="290771" cy="290771"/>
          </a:xfrm>
          <a:custGeom>
            <a:avLst/>
            <a:gdLst/>
            <a:ahLst/>
            <a:cxnLst/>
            <a:rect l="l" t="t" r="r" b="b"/>
            <a:pathLst>
              <a:path w="290771" h="290771">
                <a:moveTo>
                  <a:pt x="0" y="0"/>
                </a:moveTo>
                <a:lnTo>
                  <a:pt x="290771" y="0"/>
                </a:lnTo>
                <a:lnTo>
                  <a:pt x="290771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0" y="1116460"/>
            <a:ext cx="18288000" cy="9170540"/>
            <a:chOff x="0" y="0"/>
            <a:chExt cx="4862686" cy="2438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62686" cy="2438400"/>
            </a:xfrm>
            <a:custGeom>
              <a:avLst/>
              <a:gdLst/>
              <a:ahLst/>
              <a:cxnLst/>
              <a:rect l="l" t="t" r="r" b="b"/>
              <a:pathLst>
                <a:path w="4862686" h="2438400">
                  <a:moveTo>
                    <a:pt x="0" y="0"/>
                  </a:moveTo>
                  <a:lnTo>
                    <a:pt x="4862686" y="0"/>
                  </a:lnTo>
                  <a:lnTo>
                    <a:pt x="4862686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FF0F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862686" cy="247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85272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 rot="-10800000">
            <a:off x="168470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2" name="Freeform 22"/>
          <p:cNvSpPr/>
          <p:nvPr/>
        </p:nvSpPr>
        <p:spPr>
          <a:xfrm>
            <a:off x="1200150" y="1443766"/>
            <a:ext cx="309499" cy="319371"/>
          </a:xfrm>
          <a:custGeom>
            <a:avLst/>
            <a:gdLst/>
            <a:ahLst/>
            <a:cxnLst/>
            <a:rect l="l" t="t" r="r" b="b"/>
            <a:pathLst>
              <a:path w="309499" h="319371">
                <a:moveTo>
                  <a:pt x="0" y="0"/>
                </a:moveTo>
                <a:lnTo>
                  <a:pt x="309499" y="0"/>
                </a:lnTo>
                <a:lnTo>
                  <a:pt x="309499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600768" y="1348239"/>
            <a:ext cx="15658532" cy="510426"/>
            <a:chOff x="0" y="0"/>
            <a:chExt cx="12467294" cy="406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467294" cy="406400"/>
            </a:xfrm>
            <a:custGeom>
              <a:avLst/>
              <a:gdLst/>
              <a:ahLst/>
              <a:cxnLst/>
              <a:rect l="l" t="t" r="r" b="b"/>
              <a:pathLst>
                <a:path w="12467294" h="406400">
                  <a:moveTo>
                    <a:pt x="12264094" y="0"/>
                  </a:moveTo>
                  <a:cubicBezTo>
                    <a:pt x="12376318" y="0"/>
                    <a:pt x="12467294" y="90976"/>
                    <a:pt x="12467294" y="203200"/>
                  </a:cubicBezTo>
                  <a:cubicBezTo>
                    <a:pt x="12467294" y="315424"/>
                    <a:pt x="12376318" y="406400"/>
                    <a:pt x="1226409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C5C6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12467294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752902" y="1443766"/>
            <a:ext cx="333943" cy="319371"/>
          </a:xfrm>
          <a:custGeom>
            <a:avLst/>
            <a:gdLst/>
            <a:ahLst/>
            <a:cxnLst/>
            <a:rect l="l" t="t" r="r" b="b"/>
            <a:pathLst>
              <a:path w="333943" h="319371">
                <a:moveTo>
                  <a:pt x="0" y="0"/>
                </a:moveTo>
                <a:lnTo>
                  <a:pt x="333942" y="0"/>
                </a:lnTo>
                <a:lnTo>
                  <a:pt x="333942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0218350" y="3570515"/>
            <a:ext cx="7230004" cy="5804906"/>
            <a:chOff x="0" y="0"/>
            <a:chExt cx="7467600" cy="599567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6200000"/>
            </a:gradFill>
          </p:spPr>
        </p:sp>
        <p:sp>
          <p:nvSpPr>
            <p:cNvPr id="30" name="Freeform 30"/>
            <p:cNvSpPr/>
            <p:nvPr/>
          </p:nvSpPr>
          <p:spPr>
            <a:xfrm>
              <a:off x="2434265" y="5210810"/>
              <a:ext cx="2596530" cy="786130"/>
            </a:xfrm>
            <a:custGeom>
              <a:avLst/>
              <a:gdLst/>
              <a:ahLst/>
              <a:cxnLst/>
              <a:rect l="l" t="t" r="r" b="b"/>
              <a:pathLst>
                <a:path w="2596530" h="7861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2"/>
              <a:stretch>
                <a:fillRect l="-3183" r="-3183"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5443067" y="401403"/>
            <a:ext cx="20719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Introduction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15039" y="401403"/>
            <a:ext cx="261014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Overview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475683" y="401403"/>
            <a:ext cx="271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Process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258294" y="1368501"/>
            <a:ext cx="870774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48494E"/>
                </a:solidFill>
                <a:latin typeface="Open Sauce"/>
                <a:ea typeface="Open Sauce"/>
                <a:cs typeface="Open Sauce"/>
                <a:sym typeface="Open Sauce"/>
              </a:rPr>
              <a:t>Insert your topic here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3077" y="2219559"/>
            <a:ext cx="6495623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19"/>
              </a:lnSpc>
            </a:pPr>
            <a:r>
              <a:rPr lang="en-US" sz="85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Process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3077" y="3726425"/>
            <a:ext cx="756151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1. Demo Buyer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5272" y="4680830"/>
            <a:ext cx="8994425" cy="3668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Registrasi &amp; Login (validasi, remember me)</a:t>
            </a:r>
          </a:p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Lihat produk (kategori, pencarian, filter harga, sorting)</a:t>
            </a:r>
          </a:p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Tambah ke wishlist (ikon hati)</a:t>
            </a:r>
          </a:p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Tambah ke keranjang (AJAX, update badge)</a:t>
            </a:r>
          </a:p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Checkout (alamat, kota, metode pembayaran)</a:t>
            </a:r>
          </a:p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Pembayaran (Midtrans Snap / Upload bukti manual)</a:t>
            </a:r>
          </a:p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Download produk setelah status paid</a:t>
            </a:r>
          </a:p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Review &amp; Rating (bintang + komentar + foto)</a:t>
            </a:r>
          </a:p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Notifikasi in-app &amp; email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79011" y="449028"/>
            <a:ext cx="300609" cy="290771"/>
          </a:xfrm>
          <a:custGeom>
            <a:avLst/>
            <a:gdLst/>
            <a:ahLst/>
            <a:cxnLst/>
            <a:rect l="l" t="t" r="r" b="b"/>
            <a:pathLst>
              <a:path w="300609" h="290771">
                <a:moveTo>
                  <a:pt x="0" y="0"/>
                </a:moveTo>
                <a:lnTo>
                  <a:pt x="300608" y="0"/>
                </a:lnTo>
                <a:lnTo>
                  <a:pt x="300608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09649" y="401403"/>
            <a:ext cx="162330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Title Page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89611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05760" y="401403"/>
            <a:ext cx="17610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Reporters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3933418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600539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8872708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335973" y="263361"/>
            <a:ext cx="597104" cy="59710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AC9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382357" y="401403"/>
            <a:ext cx="183615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Technologi</a:t>
            </a:r>
          </a:p>
        </p:txBody>
      </p:sp>
      <p:sp>
        <p:nvSpPr>
          <p:cNvPr id="14" name="Freeform 14"/>
          <p:cNvSpPr/>
          <p:nvPr/>
        </p:nvSpPr>
        <p:spPr>
          <a:xfrm flipH="1">
            <a:off x="10966034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3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3" y="6946007"/>
                </a:lnTo>
                <a:lnTo>
                  <a:pt x="136445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191021" y="459882"/>
            <a:ext cx="300609" cy="290771"/>
          </a:xfrm>
          <a:custGeom>
            <a:avLst/>
            <a:gdLst/>
            <a:ahLst/>
            <a:cxnLst/>
            <a:rect l="l" t="t" r="r" b="b"/>
            <a:pathLst>
              <a:path w="300609" h="290771">
                <a:moveTo>
                  <a:pt x="0" y="0"/>
                </a:moveTo>
                <a:lnTo>
                  <a:pt x="300609" y="0"/>
                </a:lnTo>
                <a:lnTo>
                  <a:pt x="300609" y="290771"/>
                </a:lnTo>
                <a:lnTo>
                  <a:pt x="0" y="2907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746825" y="449028"/>
            <a:ext cx="290771" cy="290771"/>
          </a:xfrm>
          <a:custGeom>
            <a:avLst/>
            <a:gdLst/>
            <a:ahLst/>
            <a:cxnLst/>
            <a:rect l="l" t="t" r="r" b="b"/>
            <a:pathLst>
              <a:path w="290771" h="290771">
                <a:moveTo>
                  <a:pt x="0" y="0"/>
                </a:moveTo>
                <a:lnTo>
                  <a:pt x="290771" y="0"/>
                </a:lnTo>
                <a:lnTo>
                  <a:pt x="290771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0" y="1116460"/>
            <a:ext cx="18288000" cy="9170540"/>
            <a:chOff x="0" y="0"/>
            <a:chExt cx="4862686" cy="2438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62686" cy="2438400"/>
            </a:xfrm>
            <a:custGeom>
              <a:avLst/>
              <a:gdLst/>
              <a:ahLst/>
              <a:cxnLst/>
              <a:rect l="l" t="t" r="r" b="b"/>
              <a:pathLst>
                <a:path w="4862686" h="2438400">
                  <a:moveTo>
                    <a:pt x="0" y="0"/>
                  </a:moveTo>
                  <a:lnTo>
                    <a:pt x="4862686" y="0"/>
                  </a:lnTo>
                  <a:lnTo>
                    <a:pt x="4862686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FF0F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862686" cy="247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85272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 rot="-10800000">
            <a:off x="168470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2" name="Freeform 22"/>
          <p:cNvSpPr/>
          <p:nvPr/>
        </p:nvSpPr>
        <p:spPr>
          <a:xfrm>
            <a:off x="1200150" y="1443766"/>
            <a:ext cx="309499" cy="319371"/>
          </a:xfrm>
          <a:custGeom>
            <a:avLst/>
            <a:gdLst/>
            <a:ahLst/>
            <a:cxnLst/>
            <a:rect l="l" t="t" r="r" b="b"/>
            <a:pathLst>
              <a:path w="309499" h="319371">
                <a:moveTo>
                  <a:pt x="0" y="0"/>
                </a:moveTo>
                <a:lnTo>
                  <a:pt x="309499" y="0"/>
                </a:lnTo>
                <a:lnTo>
                  <a:pt x="309499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600768" y="1348239"/>
            <a:ext cx="15658532" cy="510426"/>
            <a:chOff x="0" y="0"/>
            <a:chExt cx="12467294" cy="406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467294" cy="406400"/>
            </a:xfrm>
            <a:custGeom>
              <a:avLst/>
              <a:gdLst/>
              <a:ahLst/>
              <a:cxnLst/>
              <a:rect l="l" t="t" r="r" b="b"/>
              <a:pathLst>
                <a:path w="12467294" h="406400">
                  <a:moveTo>
                    <a:pt x="12264094" y="0"/>
                  </a:moveTo>
                  <a:cubicBezTo>
                    <a:pt x="12376318" y="0"/>
                    <a:pt x="12467294" y="90976"/>
                    <a:pt x="12467294" y="203200"/>
                  </a:cubicBezTo>
                  <a:cubicBezTo>
                    <a:pt x="12467294" y="315424"/>
                    <a:pt x="12376318" y="406400"/>
                    <a:pt x="1226409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C5C6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12467294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752902" y="1443766"/>
            <a:ext cx="333943" cy="319371"/>
          </a:xfrm>
          <a:custGeom>
            <a:avLst/>
            <a:gdLst/>
            <a:ahLst/>
            <a:cxnLst/>
            <a:rect l="l" t="t" r="r" b="b"/>
            <a:pathLst>
              <a:path w="333943" h="319371">
                <a:moveTo>
                  <a:pt x="0" y="0"/>
                </a:moveTo>
                <a:lnTo>
                  <a:pt x="333942" y="0"/>
                </a:lnTo>
                <a:lnTo>
                  <a:pt x="333942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0364224" y="3570515"/>
            <a:ext cx="7084130" cy="5687785"/>
            <a:chOff x="0" y="0"/>
            <a:chExt cx="7467600" cy="599567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6200000"/>
            </a:gradFill>
          </p:spPr>
        </p:sp>
        <p:sp>
          <p:nvSpPr>
            <p:cNvPr id="30" name="Freeform 30"/>
            <p:cNvSpPr/>
            <p:nvPr/>
          </p:nvSpPr>
          <p:spPr>
            <a:xfrm>
              <a:off x="2434265" y="5210810"/>
              <a:ext cx="2596530" cy="786130"/>
            </a:xfrm>
            <a:custGeom>
              <a:avLst/>
              <a:gdLst/>
              <a:ahLst/>
              <a:cxnLst/>
              <a:rect l="l" t="t" r="r" b="b"/>
              <a:pathLst>
                <a:path w="2596530" h="7861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2"/>
              <a:stretch>
                <a:fillRect l="-3058" r="-3058"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5443067" y="401403"/>
            <a:ext cx="20719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Introduction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15039" y="401403"/>
            <a:ext cx="261014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Overview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475683" y="401403"/>
            <a:ext cx="271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Process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258294" y="1368501"/>
            <a:ext cx="870774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48494E"/>
                </a:solidFill>
                <a:latin typeface="Open Sauce"/>
                <a:ea typeface="Open Sauce"/>
                <a:cs typeface="Open Sauce"/>
                <a:sym typeface="Open Sauce"/>
              </a:rPr>
              <a:t>Insert your topic here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3077" y="2219559"/>
            <a:ext cx="6495623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19"/>
              </a:lnSpc>
            </a:pPr>
            <a:r>
              <a:rPr lang="en-US" sz="85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Process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3077" y="3726425"/>
            <a:ext cx="756151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2. Demo Seller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5272" y="4633205"/>
            <a:ext cx="8994425" cy="2852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Dashboard statistik: total produk, penjualan, pesanan, rata-rata</a:t>
            </a:r>
          </a:p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Tambah produk baru (file &amp; cover upload, kategori)</a:t>
            </a:r>
          </a:p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Lihat produk saya (status pending/active)</a:t>
            </a:r>
          </a:p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Edit &amp; hapus produk</a:t>
            </a:r>
          </a:p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Pesanan masuk (lihat daftar pesanan + bukti bayar)</a:t>
            </a:r>
          </a:p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Konfirmasi pembayaran (status pending → paid)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79011" y="449028"/>
            <a:ext cx="300609" cy="290771"/>
          </a:xfrm>
          <a:custGeom>
            <a:avLst/>
            <a:gdLst/>
            <a:ahLst/>
            <a:cxnLst/>
            <a:rect l="l" t="t" r="r" b="b"/>
            <a:pathLst>
              <a:path w="300609" h="290771">
                <a:moveTo>
                  <a:pt x="0" y="0"/>
                </a:moveTo>
                <a:lnTo>
                  <a:pt x="300608" y="0"/>
                </a:lnTo>
                <a:lnTo>
                  <a:pt x="300608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09649" y="401403"/>
            <a:ext cx="162330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Title Page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89611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05760" y="401403"/>
            <a:ext cx="17610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Reporters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3933418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600539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8872708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335973" y="263361"/>
            <a:ext cx="597104" cy="59710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AC9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382357" y="401403"/>
            <a:ext cx="183615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Technologi</a:t>
            </a:r>
          </a:p>
        </p:txBody>
      </p:sp>
      <p:sp>
        <p:nvSpPr>
          <p:cNvPr id="14" name="Freeform 14"/>
          <p:cNvSpPr/>
          <p:nvPr/>
        </p:nvSpPr>
        <p:spPr>
          <a:xfrm flipH="1">
            <a:off x="10966034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3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3" y="6946007"/>
                </a:lnTo>
                <a:lnTo>
                  <a:pt x="136445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191021" y="459882"/>
            <a:ext cx="300609" cy="290771"/>
          </a:xfrm>
          <a:custGeom>
            <a:avLst/>
            <a:gdLst/>
            <a:ahLst/>
            <a:cxnLst/>
            <a:rect l="l" t="t" r="r" b="b"/>
            <a:pathLst>
              <a:path w="300609" h="290771">
                <a:moveTo>
                  <a:pt x="0" y="0"/>
                </a:moveTo>
                <a:lnTo>
                  <a:pt x="300609" y="0"/>
                </a:lnTo>
                <a:lnTo>
                  <a:pt x="300609" y="290771"/>
                </a:lnTo>
                <a:lnTo>
                  <a:pt x="0" y="2907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746825" y="449028"/>
            <a:ext cx="290771" cy="290771"/>
          </a:xfrm>
          <a:custGeom>
            <a:avLst/>
            <a:gdLst/>
            <a:ahLst/>
            <a:cxnLst/>
            <a:rect l="l" t="t" r="r" b="b"/>
            <a:pathLst>
              <a:path w="290771" h="290771">
                <a:moveTo>
                  <a:pt x="0" y="0"/>
                </a:moveTo>
                <a:lnTo>
                  <a:pt x="290771" y="0"/>
                </a:lnTo>
                <a:lnTo>
                  <a:pt x="290771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0" y="1116460"/>
            <a:ext cx="18288000" cy="9170540"/>
            <a:chOff x="0" y="0"/>
            <a:chExt cx="4862686" cy="2438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62686" cy="2438400"/>
            </a:xfrm>
            <a:custGeom>
              <a:avLst/>
              <a:gdLst/>
              <a:ahLst/>
              <a:cxnLst/>
              <a:rect l="l" t="t" r="r" b="b"/>
              <a:pathLst>
                <a:path w="4862686" h="2438400">
                  <a:moveTo>
                    <a:pt x="0" y="0"/>
                  </a:moveTo>
                  <a:lnTo>
                    <a:pt x="4862686" y="0"/>
                  </a:lnTo>
                  <a:lnTo>
                    <a:pt x="4862686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FF0F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862686" cy="247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85272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 rot="-10800000">
            <a:off x="168470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2" name="Freeform 22"/>
          <p:cNvSpPr/>
          <p:nvPr/>
        </p:nvSpPr>
        <p:spPr>
          <a:xfrm>
            <a:off x="1200150" y="1443766"/>
            <a:ext cx="309499" cy="319371"/>
          </a:xfrm>
          <a:custGeom>
            <a:avLst/>
            <a:gdLst/>
            <a:ahLst/>
            <a:cxnLst/>
            <a:rect l="l" t="t" r="r" b="b"/>
            <a:pathLst>
              <a:path w="309499" h="319371">
                <a:moveTo>
                  <a:pt x="0" y="0"/>
                </a:moveTo>
                <a:lnTo>
                  <a:pt x="309499" y="0"/>
                </a:lnTo>
                <a:lnTo>
                  <a:pt x="309499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600768" y="1348239"/>
            <a:ext cx="15658532" cy="510426"/>
            <a:chOff x="0" y="0"/>
            <a:chExt cx="12467294" cy="406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467294" cy="406400"/>
            </a:xfrm>
            <a:custGeom>
              <a:avLst/>
              <a:gdLst/>
              <a:ahLst/>
              <a:cxnLst/>
              <a:rect l="l" t="t" r="r" b="b"/>
              <a:pathLst>
                <a:path w="12467294" h="406400">
                  <a:moveTo>
                    <a:pt x="12264094" y="0"/>
                  </a:moveTo>
                  <a:cubicBezTo>
                    <a:pt x="12376318" y="0"/>
                    <a:pt x="12467294" y="90976"/>
                    <a:pt x="12467294" y="203200"/>
                  </a:cubicBezTo>
                  <a:cubicBezTo>
                    <a:pt x="12467294" y="315424"/>
                    <a:pt x="12376318" y="406400"/>
                    <a:pt x="1226409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C5C6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12467294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752902" y="1443766"/>
            <a:ext cx="333943" cy="319371"/>
          </a:xfrm>
          <a:custGeom>
            <a:avLst/>
            <a:gdLst/>
            <a:ahLst/>
            <a:cxnLst/>
            <a:rect l="l" t="t" r="r" b="b"/>
            <a:pathLst>
              <a:path w="333943" h="319371">
                <a:moveTo>
                  <a:pt x="0" y="0"/>
                </a:moveTo>
                <a:lnTo>
                  <a:pt x="333942" y="0"/>
                </a:lnTo>
                <a:lnTo>
                  <a:pt x="333942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0218350" y="3570515"/>
            <a:ext cx="7230004" cy="5804906"/>
            <a:chOff x="0" y="0"/>
            <a:chExt cx="7467600" cy="599567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6200000"/>
            </a:gradFill>
          </p:spPr>
        </p:sp>
        <p:sp>
          <p:nvSpPr>
            <p:cNvPr id="30" name="Freeform 30"/>
            <p:cNvSpPr/>
            <p:nvPr/>
          </p:nvSpPr>
          <p:spPr>
            <a:xfrm>
              <a:off x="2434265" y="5210810"/>
              <a:ext cx="2596530" cy="786130"/>
            </a:xfrm>
            <a:custGeom>
              <a:avLst/>
              <a:gdLst/>
              <a:ahLst/>
              <a:cxnLst/>
              <a:rect l="l" t="t" r="r" b="b"/>
              <a:pathLst>
                <a:path w="2596530" h="7861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2"/>
              <a:stretch>
                <a:fillRect l="-2933" r="-2933"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5443067" y="401403"/>
            <a:ext cx="20719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Introduction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15039" y="401403"/>
            <a:ext cx="261014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Overview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475683" y="401403"/>
            <a:ext cx="271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Process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258294" y="1368501"/>
            <a:ext cx="870774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48494E"/>
                </a:solidFill>
                <a:latin typeface="Open Sauce"/>
                <a:ea typeface="Open Sauce"/>
                <a:cs typeface="Open Sauce"/>
                <a:sym typeface="Open Sauce"/>
              </a:rPr>
              <a:t>Insert your topic here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3077" y="2219559"/>
            <a:ext cx="6495623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19"/>
              </a:lnSpc>
            </a:pPr>
            <a:r>
              <a:rPr lang="en-US" sz="85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Process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3077" y="3726425"/>
            <a:ext cx="756151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3. Demo Admin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34525" y="4642730"/>
            <a:ext cx="8994425" cy="2852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Dashboard: statistik (user, kategori, produk, pesanan) + grafik penjualan 7 hari terakhir</a:t>
            </a:r>
          </a:p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Manajemen user: pagination, search, ubah role, hapus</a:t>
            </a:r>
          </a:p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Manajemen kategori: tambah, edit, hapus</a:t>
            </a:r>
          </a:p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Approve produk pending: daftar produk, tombol Approve/Reject</a:t>
            </a:r>
          </a:p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Semua pesanan: filter status, pagination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79011" y="449028"/>
            <a:ext cx="300609" cy="290771"/>
          </a:xfrm>
          <a:custGeom>
            <a:avLst/>
            <a:gdLst/>
            <a:ahLst/>
            <a:cxnLst/>
            <a:rect l="l" t="t" r="r" b="b"/>
            <a:pathLst>
              <a:path w="300609" h="290771">
                <a:moveTo>
                  <a:pt x="0" y="0"/>
                </a:moveTo>
                <a:lnTo>
                  <a:pt x="300608" y="0"/>
                </a:lnTo>
                <a:lnTo>
                  <a:pt x="300608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09649" y="401403"/>
            <a:ext cx="162330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Title Page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89611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05760" y="401403"/>
            <a:ext cx="17610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Reporters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3933418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600539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8872708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335973" y="263361"/>
            <a:ext cx="597104" cy="59710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AC9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382357" y="401403"/>
            <a:ext cx="183615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Technologi</a:t>
            </a:r>
          </a:p>
        </p:txBody>
      </p:sp>
      <p:sp>
        <p:nvSpPr>
          <p:cNvPr id="14" name="Freeform 14"/>
          <p:cNvSpPr/>
          <p:nvPr/>
        </p:nvSpPr>
        <p:spPr>
          <a:xfrm flipH="1">
            <a:off x="10966034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3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3" y="6946007"/>
                </a:lnTo>
                <a:lnTo>
                  <a:pt x="136445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191021" y="459882"/>
            <a:ext cx="300609" cy="290771"/>
          </a:xfrm>
          <a:custGeom>
            <a:avLst/>
            <a:gdLst/>
            <a:ahLst/>
            <a:cxnLst/>
            <a:rect l="l" t="t" r="r" b="b"/>
            <a:pathLst>
              <a:path w="300609" h="290771">
                <a:moveTo>
                  <a:pt x="0" y="0"/>
                </a:moveTo>
                <a:lnTo>
                  <a:pt x="300609" y="0"/>
                </a:lnTo>
                <a:lnTo>
                  <a:pt x="300609" y="290771"/>
                </a:lnTo>
                <a:lnTo>
                  <a:pt x="0" y="2907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746825" y="449028"/>
            <a:ext cx="290771" cy="290771"/>
          </a:xfrm>
          <a:custGeom>
            <a:avLst/>
            <a:gdLst/>
            <a:ahLst/>
            <a:cxnLst/>
            <a:rect l="l" t="t" r="r" b="b"/>
            <a:pathLst>
              <a:path w="290771" h="290771">
                <a:moveTo>
                  <a:pt x="0" y="0"/>
                </a:moveTo>
                <a:lnTo>
                  <a:pt x="290771" y="0"/>
                </a:lnTo>
                <a:lnTo>
                  <a:pt x="290771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0" y="1116460"/>
            <a:ext cx="18288000" cy="9170540"/>
            <a:chOff x="0" y="0"/>
            <a:chExt cx="4862686" cy="2438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62686" cy="2438400"/>
            </a:xfrm>
            <a:custGeom>
              <a:avLst/>
              <a:gdLst/>
              <a:ahLst/>
              <a:cxnLst/>
              <a:rect l="l" t="t" r="r" b="b"/>
              <a:pathLst>
                <a:path w="4862686" h="2438400">
                  <a:moveTo>
                    <a:pt x="0" y="0"/>
                  </a:moveTo>
                  <a:lnTo>
                    <a:pt x="4862686" y="0"/>
                  </a:lnTo>
                  <a:lnTo>
                    <a:pt x="4862686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FF0F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862686" cy="247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85272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 rot="-10800000">
            <a:off x="168470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2" name="Freeform 22"/>
          <p:cNvSpPr/>
          <p:nvPr/>
        </p:nvSpPr>
        <p:spPr>
          <a:xfrm>
            <a:off x="1200150" y="1443766"/>
            <a:ext cx="309499" cy="319371"/>
          </a:xfrm>
          <a:custGeom>
            <a:avLst/>
            <a:gdLst/>
            <a:ahLst/>
            <a:cxnLst/>
            <a:rect l="l" t="t" r="r" b="b"/>
            <a:pathLst>
              <a:path w="309499" h="319371">
                <a:moveTo>
                  <a:pt x="0" y="0"/>
                </a:moveTo>
                <a:lnTo>
                  <a:pt x="309499" y="0"/>
                </a:lnTo>
                <a:lnTo>
                  <a:pt x="309499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600768" y="1348239"/>
            <a:ext cx="15658532" cy="510426"/>
            <a:chOff x="0" y="0"/>
            <a:chExt cx="12467294" cy="406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467294" cy="406400"/>
            </a:xfrm>
            <a:custGeom>
              <a:avLst/>
              <a:gdLst/>
              <a:ahLst/>
              <a:cxnLst/>
              <a:rect l="l" t="t" r="r" b="b"/>
              <a:pathLst>
                <a:path w="12467294" h="406400">
                  <a:moveTo>
                    <a:pt x="12264094" y="0"/>
                  </a:moveTo>
                  <a:cubicBezTo>
                    <a:pt x="12376318" y="0"/>
                    <a:pt x="12467294" y="90976"/>
                    <a:pt x="12467294" y="203200"/>
                  </a:cubicBezTo>
                  <a:cubicBezTo>
                    <a:pt x="12467294" y="315424"/>
                    <a:pt x="12376318" y="406400"/>
                    <a:pt x="1226409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C5C6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12467294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752902" y="1443766"/>
            <a:ext cx="333943" cy="319371"/>
          </a:xfrm>
          <a:custGeom>
            <a:avLst/>
            <a:gdLst/>
            <a:ahLst/>
            <a:cxnLst/>
            <a:rect l="l" t="t" r="r" b="b"/>
            <a:pathLst>
              <a:path w="333943" h="319371">
                <a:moveTo>
                  <a:pt x="0" y="0"/>
                </a:moveTo>
                <a:lnTo>
                  <a:pt x="333942" y="0"/>
                </a:lnTo>
                <a:lnTo>
                  <a:pt x="333942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0218350" y="3570515"/>
            <a:ext cx="7230004" cy="5804906"/>
            <a:chOff x="0" y="0"/>
            <a:chExt cx="7467600" cy="599567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6200000"/>
            </a:gradFill>
          </p:spPr>
        </p:sp>
        <p:sp>
          <p:nvSpPr>
            <p:cNvPr id="30" name="Freeform 30"/>
            <p:cNvSpPr/>
            <p:nvPr/>
          </p:nvSpPr>
          <p:spPr>
            <a:xfrm>
              <a:off x="2434265" y="5210810"/>
              <a:ext cx="2596530" cy="786130"/>
            </a:xfrm>
            <a:custGeom>
              <a:avLst/>
              <a:gdLst/>
              <a:ahLst/>
              <a:cxnLst/>
              <a:rect l="l" t="t" r="r" b="b"/>
              <a:pathLst>
                <a:path w="2596530" h="7861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2"/>
              <a:stretch>
                <a:fillRect l="-2933" r="-2933"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5443067" y="401403"/>
            <a:ext cx="20719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Introduction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15039" y="401403"/>
            <a:ext cx="261014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Overview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475683" y="401403"/>
            <a:ext cx="271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Process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258294" y="1368501"/>
            <a:ext cx="870774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48494E"/>
                </a:solidFill>
                <a:latin typeface="Open Sauce"/>
                <a:ea typeface="Open Sauce"/>
                <a:cs typeface="Open Sauce"/>
                <a:sym typeface="Open Sauce"/>
              </a:rPr>
              <a:t>Insert your topic here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3077" y="2219559"/>
            <a:ext cx="6495623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19"/>
              </a:lnSpc>
            </a:pPr>
            <a:r>
              <a:rPr lang="en-US" sz="85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Process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3077" y="3726425"/>
            <a:ext cx="756151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4. Demo System Automation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5272" y="4661780"/>
            <a:ext cx="8994425" cy="3668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Notifikasi otomatis :</a:t>
            </a:r>
          </a:p>
          <a:p>
            <a:pPr algn="l">
              <a:lnSpc>
                <a:spcPts val="3247"/>
              </a:lnSpc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- Registrasi berhasil → email + in-app</a:t>
            </a:r>
          </a:p>
          <a:p>
            <a:pPr algn="l">
              <a:lnSpc>
                <a:spcPts val="3247"/>
              </a:lnSpc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- Order dibuat → email + in-app (buyer &amp; seller)</a:t>
            </a:r>
          </a:p>
          <a:p>
            <a:pPr algn="l">
              <a:lnSpc>
                <a:spcPts val="3247"/>
              </a:lnSpc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- Pembayaran dikonfirmasi → email + in-app (buyer)</a:t>
            </a:r>
          </a:p>
          <a:p>
            <a:pPr algn="l">
              <a:lnSpc>
                <a:spcPts val="3247"/>
              </a:lnSpc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- Produk pending → notifikasi ke admin</a:t>
            </a:r>
          </a:p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Webhook : status pembayaran otomatis berubah tanpa admin/seller konfirmasi</a:t>
            </a:r>
          </a:p>
          <a:p>
            <a:pPr marL="539410" lvl="1" indent="-269705" algn="l">
              <a:lnSpc>
                <a:spcPts val="324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Status pesanan : pending → paid → cancelled (auto atau manual)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79011" y="449028"/>
            <a:ext cx="300609" cy="290771"/>
          </a:xfrm>
          <a:custGeom>
            <a:avLst/>
            <a:gdLst/>
            <a:ahLst/>
            <a:cxnLst/>
            <a:rect l="l" t="t" r="r" b="b"/>
            <a:pathLst>
              <a:path w="300609" h="290771">
                <a:moveTo>
                  <a:pt x="0" y="0"/>
                </a:moveTo>
                <a:lnTo>
                  <a:pt x="300608" y="0"/>
                </a:lnTo>
                <a:lnTo>
                  <a:pt x="300608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09649" y="401403"/>
            <a:ext cx="162330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Title Page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89611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05760" y="401403"/>
            <a:ext cx="17610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Reporters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3933418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600539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8872708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335973" y="263361"/>
            <a:ext cx="597104" cy="59710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AC9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382357" y="401403"/>
            <a:ext cx="183615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Technologi</a:t>
            </a:r>
          </a:p>
        </p:txBody>
      </p:sp>
      <p:sp>
        <p:nvSpPr>
          <p:cNvPr id="14" name="Freeform 14"/>
          <p:cNvSpPr/>
          <p:nvPr/>
        </p:nvSpPr>
        <p:spPr>
          <a:xfrm flipH="1">
            <a:off x="10966034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3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3" y="6946007"/>
                </a:lnTo>
                <a:lnTo>
                  <a:pt x="136445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191021" y="459882"/>
            <a:ext cx="300609" cy="290771"/>
          </a:xfrm>
          <a:custGeom>
            <a:avLst/>
            <a:gdLst/>
            <a:ahLst/>
            <a:cxnLst/>
            <a:rect l="l" t="t" r="r" b="b"/>
            <a:pathLst>
              <a:path w="300609" h="290771">
                <a:moveTo>
                  <a:pt x="0" y="0"/>
                </a:moveTo>
                <a:lnTo>
                  <a:pt x="300609" y="0"/>
                </a:lnTo>
                <a:lnTo>
                  <a:pt x="300609" y="290771"/>
                </a:lnTo>
                <a:lnTo>
                  <a:pt x="0" y="2907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746825" y="449028"/>
            <a:ext cx="290771" cy="290771"/>
          </a:xfrm>
          <a:custGeom>
            <a:avLst/>
            <a:gdLst/>
            <a:ahLst/>
            <a:cxnLst/>
            <a:rect l="l" t="t" r="r" b="b"/>
            <a:pathLst>
              <a:path w="290771" h="290771">
                <a:moveTo>
                  <a:pt x="0" y="0"/>
                </a:moveTo>
                <a:lnTo>
                  <a:pt x="290771" y="0"/>
                </a:lnTo>
                <a:lnTo>
                  <a:pt x="290771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0" y="1116460"/>
            <a:ext cx="18288000" cy="9170540"/>
            <a:chOff x="0" y="0"/>
            <a:chExt cx="4862686" cy="2438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62686" cy="2438400"/>
            </a:xfrm>
            <a:custGeom>
              <a:avLst/>
              <a:gdLst/>
              <a:ahLst/>
              <a:cxnLst/>
              <a:rect l="l" t="t" r="r" b="b"/>
              <a:pathLst>
                <a:path w="4862686" h="2438400">
                  <a:moveTo>
                    <a:pt x="0" y="0"/>
                  </a:moveTo>
                  <a:lnTo>
                    <a:pt x="4862686" y="0"/>
                  </a:lnTo>
                  <a:lnTo>
                    <a:pt x="4862686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FF0F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862686" cy="247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85272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 rot="-10800000">
            <a:off x="168470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2" name="Freeform 22"/>
          <p:cNvSpPr/>
          <p:nvPr/>
        </p:nvSpPr>
        <p:spPr>
          <a:xfrm>
            <a:off x="1200150" y="1443766"/>
            <a:ext cx="309499" cy="319371"/>
          </a:xfrm>
          <a:custGeom>
            <a:avLst/>
            <a:gdLst/>
            <a:ahLst/>
            <a:cxnLst/>
            <a:rect l="l" t="t" r="r" b="b"/>
            <a:pathLst>
              <a:path w="309499" h="319371">
                <a:moveTo>
                  <a:pt x="0" y="0"/>
                </a:moveTo>
                <a:lnTo>
                  <a:pt x="309499" y="0"/>
                </a:lnTo>
                <a:lnTo>
                  <a:pt x="309499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600768" y="1348239"/>
            <a:ext cx="15658532" cy="510426"/>
            <a:chOff x="0" y="0"/>
            <a:chExt cx="12467294" cy="406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467294" cy="406400"/>
            </a:xfrm>
            <a:custGeom>
              <a:avLst/>
              <a:gdLst/>
              <a:ahLst/>
              <a:cxnLst/>
              <a:rect l="l" t="t" r="r" b="b"/>
              <a:pathLst>
                <a:path w="12467294" h="406400">
                  <a:moveTo>
                    <a:pt x="12264094" y="0"/>
                  </a:moveTo>
                  <a:cubicBezTo>
                    <a:pt x="12376318" y="0"/>
                    <a:pt x="12467294" y="90976"/>
                    <a:pt x="12467294" y="203200"/>
                  </a:cubicBezTo>
                  <a:cubicBezTo>
                    <a:pt x="12467294" y="315424"/>
                    <a:pt x="12376318" y="406400"/>
                    <a:pt x="1226409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C5C6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12467294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752902" y="1443766"/>
            <a:ext cx="333943" cy="319371"/>
          </a:xfrm>
          <a:custGeom>
            <a:avLst/>
            <a:gdLst/>
            <a:ahLst/>
            <a:cxnLst/>
            <a:rect l="l" t="t" r="r" b="b"/>
            <a:pathLst>
              <a:path w="333943" h="319371">
                <a:moveTo>
                  <a:pt x="0" y="0"/>
                </a:moveTo>
                <a:lnTo>
                  <a:pt x="333942" y="0"/>
                </a:lnTo>
                <a:lnTo>
                  <a:pt x="333942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028700" y="3952875"/>
            <a:ext cx="800100" cy="800100"/>
          </a:xfrm>
          <a:custGeom>
            <a:avLst/>
            <a:gdLst/>
            <a:ahLst/>
            <a:cxnLst/>
            <a:rect l="l" t="t" r="r" b="b"/>
            <a:pathLst>
              <a:path w="800100" h="800100">
                <a:moveTo>
                  <a:pt x="0" y="0"/>
                </a:moveTo>
                <a:lnTo>
                  <a:pt x="800100" y="0"/>
                </a:lnTo>
                <a:lnTo>
                  <a:pt x="800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933077" y="2265590"/>
            <a:ext cx="11860364" cy="260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20"/>
              </a:lnSpc>
            </a:pPr>
            <a:r>
              <a:rPr lang="en-US" sz="8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SECURITY FEATURES</a:t>
            </a:r>
          </a:p>
          <a:p>
            <a:pPr algn="l">
              <a:lnSpc>
                <a:spcPts val="10319"/>
              </a:lnSpc>
            </a:pPr>
            <a:endParaRPr lang="en-US" sz="860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9144000" y="4106368"/>
            <a:ext cx="8115300" cy="5308559"/>
            <a:chOff x="0" y="0"/>
            <a:chExt cx="10820400" cy="7078078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13"/>
            <a:srcRect l="16941" r="16941"/>
            <a:stretch>
              <a:fillRect/>
            </a:stretch>
          </p:blipFill>
          <p:spPr>
            <a:xfrm>
              <a:off x="0" y="0"/>
              <a:ext cx="10820400" cy="7078078"/>
            </a:xfrm>
            <a:prstGeom prst="rect">
              <a:avLst/>
            </a:prstGeom>
          </p:spPr>
        </p:pic>
      </p:grpSp>
      <p:sp>
        <p:nvSpPr>
          <p:cNvPr id="31" name="TextBox 31"/>
          <p:cNvSpPr txBox="1"/>
          <p:nvPr/>
        </p:nvSpPr>
        <p:spPr>
          <a:xfrm>
            <a:off x="5443067" y="401403"/>
            <a:ext cx="20719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Introduction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15039" y="401403"/>
            <a:ext cx="271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Overview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475683" y="401403"/>
            <a:ext cx="271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Process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258294" y="1368501"/>
            <a:ext cx="870774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48494E"/>
                </a:solidFill>
                <a:latin typeface="Open Sauce"/>
                <a:ea typeface="Open Sauce"/>
                <a:cs typeface="Open Sauce"/>
                <a:sym typeface="Open Sauce"/>
              </a:rPr>
              <a:t>Insert your topic here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2086844" y="3084630"/>
            <a:ext cx="5186504" cy="6528256"/>
            <a:chOff x="0" y="0"/>
            <a:chExt cx="6915339" cy="8704342"/>
          </a:xfrm>
        </p:grpSpPr>
        <p:sp>
          <p:nvSpPr>
            <p:cNvPr id="36" name="TextBox 36"/>
            <p:cNvSpPr txBox="1"/>
            <p:nvPr/>
          </p:nvSpPr>
          <p:spPr>
            <a:xfrm>
              <a:off x="0" y="1309344"/>
              <a:ext cx="6915339" cy="7394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41" lvl="1" indent="-280670" algn="l">
                <a:lnSpc>
                  <a:spcPts val="338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Password: hashing bcrypt (PHP password_hash)</a:t>
              </a:r>
            </a:p>
            <a:p>
              <a:pPr marL="561341" lvl="1" indent="-280670" algn="l">
                <a:lnSpc>
                  <a:spcPts val="338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SQL Injection: prepared statements (PDO)</a:t>
              </a:r>
            </a:p>
            <a:p>
              <a:pPr marL="561341" lvl="1" indent="-280670" algn="l">
                <a:lnSpc>
                  <a:spcPts val="338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XSS Prevention: htmlspecialchars() di semua output</a:t>
              </a:r>
            </a:p>
            <a:p>
              <a:pPr marL="561341" lvl="1" indent="-280670" algn="l">
                <a:lnSpc>
                  <a:spcPts val="338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File Upload: validasi tipe MIME, ekstensi, ukuran</a:t>
              </a:r>
            </a:p>
            <a:p>
              <a:pPr marL="561341" lvl="1" indent="-280670" algn="l">
                <a:lnSpc>
                  <a:spcPts val="338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Session &amp; Cookie: session_start, remember token unik</a:t>
              </a:r>
            </a:p>
            <a:p>
              <a:pPr algn="l">
                <a:lnSpc>
                  <a:spcPts val="3380"/>
                </a:lnSpc>
              </a:pPr>
              <a:endPara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6915339" cy="764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8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79011" y="449028"/>
            <a:ext cx="300609" cy="290771"/>
          </a:xfrm>
          <a:custGeom>
            <a:avLst/>
            <a:gdLst/>
            <a:ahLst/>
            <a:cxnLst/>
            <a:rect l="l" t="t" r="r" b="b"/>
            <a:pathLst>
              <a:path w="300609" h="290771">
                <a:moveTo>
                  <a:pt x="0" y="0"/>
                </a:moveTo>
                <a:lnTo>
                  <a:pt x="300608" y="0"/>
                </a:lnTo>
                <a:lnTo>
                  <a:pt x="300608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09649" y="401403"/>
            <a:ext cx="162330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Title Page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89611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05760" y="401403"/>
            <a:ext cx="17610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Reporters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3933418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600539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8872708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335973" y="263361"/>
            <a:ext cx="597104" cy="59710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AC9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382357" y="401403"/>
            <a:ext cx="183615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Technologi</a:t>
            </a:r>
          </a:p>
        </p:txBody>
      </p:sp>
      <p:sp>
        <p:nvSpPr>
          <p:cNvPr id="14" name="Freeform 14"/>
          <p:cNvSpPr/>
          <p:nvPr/>
        </p:nvSpPr>
        <p:spPr>
          <a:xfrm flipH="1">
            <a:off x="10966034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3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3" y="6946007"/>
                </a:lnTo>
                <a:lnTo>
                  <a:pt x="136445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191021" y="459882"/>
            <a:ext cx="300609" cy="290771"/>
          </a:xfrm>
          <a:custGeom>
            <a:avLst/>
            <a:gdLst/>
            <a:ahLst/>
            <a:cxnLst/>
            <a:rect l="l" t="t" r="r" b="b"/>
            <a:pathLst>
              <a:path w="300609" h="290771">
                <a:moveTo>
                  <a:pt x="0" y="0"/>
                </a:moveTo>
                <a:lnTo>
                  <a:pt x="300609" y="0"/>
                </a:lnTo>
                <a:lnTo>
                  <a:pt x="300609" y="290771"/>
                </a:lnTo>
                <a:lnTo>
                  <a:pt x="0" y="2907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746825" y="449028"/>
            <a:ext cx="290771" cy="290771"/>
          </a:xfrm>
          <a:custGeom>
            <a:avLst/>
            <a:gdLst/>
            <a:ahLst/>
            <a:cxnLst/>
            <a:rect l="l" t="t" r="r" b="b"/>
            <a:pathLst>
              <a:path w="290771" h="290771">
                <a:moveTo>
                  <a:pt x="0" y="0"/>
                </a:moveTo>
                <a:lnTo>
                  <a:pt x="290771" y="0"/>
                </a:lnTo>
                <a:lnTo>
                  <a:pt x="290771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0" y="1116460"/>
            <a:ext cx="18288000" cy="9170540"/>
            <a:chOff x="0" y="0"/>
            <a:chExt cx="4862686" cy="2438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62686" cy="2438400"/>
            </a:xfrm>
            <a:custGeom>
              <a:avLst/>
              <a:gdLst/>
              <a:ahLst/>
              <a:cxnLst/>
              <a:rect l="l" t="t" r="r" b="b"/>
              <a:pathLst>
                <a:path w="4862686" h="2438400">
                  <a:moveTo>
                    <a:pt x="0" y="0"/>
                  </a:moveTo>
                  <a:lnTo>
                    <a:pt x="4862686" y="0"/>
                  </a:lnTo>
                  <a:lnTo>
                    <a:pt x="4862686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FF0F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862686" cy="247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85272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 rot="-10800000">
            <a:off x="168470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2" name="Freeform 22"/>
          <p:cNvSpPr/>
          <p:nvPr/>
        </p:nvSpPr>
        <p:spPr>
          <a:xfrm>
            <a:off x="1200150" y="1443766"/>
            <a:ext cx="309499" cy="319371"/>
          </a:xfrm>
          <a:custGeom>
            <a:avLst/>
            <a:gdLst/>
            <a:ahLst/>
            <a:cxnLst/>
            <a:rect l="l" t="t" r="r" b="b"/>
            <a:pathLst>
              <a:path w="309499" h="319371">
                <a:moveTo>
                  <a:pt x="0" y="0"/>
                </a:moveTo>
                <a:lnTo>
                  <a:pt x="309499" y="0"/>
                </a:lnTo>
                <a:lnTo>
                  <a:pt x="309499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600768" y="1348239"/>
            <a:ext cx="15658532" cy="510426"/>
            <a:chOff x="0" y="0"/>
            <a:chExt cx="12467294" cy="406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467294" cy="406400"/>
            </a:xfrm>
            <a:custGeom>
              <a:avLst/>
              <a:gdLst/>
              <a:ahLst/>
              <a:cxnLst/>
              <a:rect l="l" t="t" r="r" b="b"/>
              <a:pathLst>
                <a:path w="12467294" h="406400">
                  <a:moveTo>
                    <a:pt x="12264094" y="0"/>
                  </a:moveTo>
                  <a:cubicBezTo>
                    <a:pt x="12376318" y="0"/>
                    <a:pt x="12467294" y="90976"/>
                    <a:pt x="12467294" y="203200"/>
                  </a:cubicBezTo>
                  <a:cubicBezTo>
                    <a:pt x="12467294" y="315424"/>
                    <a:pt x="12376318" y="406400"/>
                    <a:pt x="1226409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C5C6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12467294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752902" y="1443766"/>
            <a:ext cx="333943" cy="319371"/>
          </a:xfrm>
          <a:custGeom>
            <a:avLst/>
            <a:gdLst/>
            <a:ahLst/>
            <a:cxnLst/>
            <a:rect l="l" t="t" r="r" b="b"/>
            <a:pathLst>
              <a:path w="333943" h="319371">
                <a:moveTo>
                  <a:pt x="0" y="0"/>
                </a:moveTo>
                <a:lnTo>
                  <a:pt x="333942" y="0"/>
                </a:lnTo>
                <a:lnTo>
                  <a:pt x="333942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028700" y="3952875"/>
            <a:ext cx="800100" cy="800100"/>
          </a:xfrm>
          <a:custGeom>
            <a:avLst/>
            <a:gdLst/>
            <a:ahLst/>
            <a:cxnLst/>
            <a:rect l="l" t="t" r="r" b="b"/>
            <a:pathLst>
              <a:path w="800100" h="800100">
                <a:moveTo>
                  <a:pt x="0" y="0"/>
                </a:moveTo>
                <a:lnTo>
                  <a:pt x="800100" y="0"/>
                </a:lnTo>
                <a:lnTo>
                  <a:pt x="800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9144000" y="4106368"/>
            <a:ext cx="8115300" cy="5308559"/>
            <a:chOff x="0" y="0"/>
            <a:chExt cx="10820400" cy="7078078"/>
          </a:xfrm>
        </p:grpSpPr>
        <p:pic>
          <p:nvPicPr>
            <p:cNvPr id="29" name="Picture 29"/>
            <p:cNvPicPr>
              <a:picLocks noChangeAspect="1"/>
            </p:cNvPicPr>
            <p:nvPr/>
          </p:nvPicPr>
          <p:blipFill>
            <a:blip r:embed="rId13"/>
            <a:srcRect t="983" b="983"/>
            <a:stretch>
              <a:fillRect/>
            </a:stretch>
          </p:blipFill>
          <p:spPr>
            <a:xfrm>
              <a:off x="0" y="0"/>
              <a:ext cx="10820400" cy="7078078"/>
            </a:xfrm>
            <a:prstGeom prst="rect">
              <a:avLst/>
            </a:prstGeom>
          </p:spPr>
        </p:pic>
      </p:grpSp>
      <p:sp>
        <p:nvSpPr>
          <p:cNvPr id="30" name="TextBox 30"/>
          <p:cNvSpPr txBox="1"/>
          <p:nvPr/>
        </p:nvSpPr>
        <p:spPr>
          <a:xfrm>
            <a:off x="5443067" y="401403"/>
            <a:ext cx="20719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Introduction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15039" y="401403"/>
            <a:ext cx="271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Overview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75683" y="401403"/>
            <a:ext cx="271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Process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258294" y="1368501"/>
            <a:ext cx="870774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48494E"/>
                </a:solidFill>
                <a:latin typeface="Open Sauce"/>
                <a:ea typeface="Open Sauce"/>
                <a:cs typeface="Open Sauce"/>
                <a:sym typeface="Open Sauce"/>
              </a:rPr>
              <a:t>Insert your topic here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-1199909" y="2265590"/>
            <a:ext cx="11860364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20"/>
              </a:lnSpc>
            </a:pPr>
            <a:r>
              <a:rPr lang="en-US" sz="8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TESTING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2086844" y="2901494"/>
            <a:ext cx="5186504" cy="7385506"/>
            <a:chOff x="0" y="0"/>
            <a:chExt cx="6915339" cy="9847342"/>
          </a:xfrm>
        </p:grpSpPr>
        <p:sp>
          <p:nvSpPr>
            <p:cNvPr id="36" name="TextBox 36"/>
            <p:cNvSpPr txBox="1"/>
            <p:nvPr/>
          </p:nvSpPr>
          <p:spPr>
            <a:xfrm>
              <a:off x="0" y="1309344"/>
              <a:ext cx="6915339" cy="8537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41" lvl="1" indent="-280670" algn="l">
                <a:lnSpc>
                  <a:spcPts val="338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Pengujian dilakukan pada:</a:t>
              </a:r>
            </a:p>
            <a:p>
              <a:pPr algn="l">
                <a:lnSpc>
                  <a:spcPts val="3380"/>
                </a:lnSpc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- Black Box Testing:  </a:t>
              </a:r>
            </a:p>
            <a:p>
              <a:pPr algn="l">
                <a:lnSpc>
                  <a:spcPts val="3380"/>
                </a:lnSpc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  fungsionalitas semua fitur</a:t>
              </a:r>
            </a:p>
            <a:p>
              <a:pPr algn="l">
                <a:lnSpc>
                  <a:spcPts val="3380"/>
                </a:lnSpc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- Browser: Chrome, Firefox,</a:t>
              </a:r>
            </a:p>
            <a:p>
              <a:pPr algn="l">
                <a:lnSpc>
                  <a:spcPts val="3380"/>
                </a:lnSpc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  Edge</a:t>
              </a:r>
            </a:p>
            <a:p>
              <a:pPr algn="l">
                <a:lnSpc>
                  <a:spcPts val="3380"/>
                </a:lnSpc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- Responsif: Desktop, Tablet, </a:t>
              </a:r>
            </a:p>
            <a:p>
              <a:pPr algn="l">
                <a:lnSpc>
                  <a:spcPts val="3380"/>
                </a:lnSpc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  Handphone (Device Toolbar)</a:t>
              </a:r>
            </a:p>
            <a:p>
              <a:pPr algn="l">
                <a:lnSpc>
                  <a:spcPts val="3380"/>
                </a:lnSpc>
              </a:pPr>
              <a:endPara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  <a:p>
              <a:pPr marL="561341" lvl="1" indent="-280670" algn="l">
                <a:lnSpc>
                  <a:spcPts val="3380"/>
                </a:lnSpc>
                <a:buFont typeface="Arial"/>
                <a:buChar char="•"/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Hasil:</a:t>
              </a:r>
            </a:p>
            <a:p>
              <a:pPr algn="l">
                <a:lnSpc>
                  <a:spcPts val="3380"/>
                </a:lnSpc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- ✅ Semua fitur berjalan </a:t>
              </a:r>
            </a:p>
            <a:p>
              <a:pPr algn="l">
                <a:lnSpc>
                  <a:spcPts val="3380"/>
                </a:lnSpc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   sesuai spesifikasi</a:t>
              </a:r>
            </a:p>
            <a:p>
              <a:pPr algn="l">
                <a:lnSpc>
                  <a:spcPts val="3380"/>
                </a:lnSpc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- ✅ Tidak ada error fatal</a:t>
              </a:r>
            </a:p>
            <a:p>
              <a:pPr algn="l">
                <a:lnSpc>
                  <a:spcPts val="3380"/>
                </a:lnSpc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- ✅ Tampilan responsif di </a:t>
              </a:r>
            </a:p>
            <a:p>
              <a:pPr algn="l">
                <a:lnSpc>
                  <a:spcPts val="3380"/>
                </a:lnSpc>
              </a:pPr>
              <a:r>
                <a:rPr lang="en-US" sz="2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   semua ukuran layar</a:t>
              </a:r>
            </a:p>
            <a:p>
              <a:pPr algn="l">
                <a:lnSpc>
                  <a:spcPts val="3380"/>
                </a:lnSpc>
              </a:pPr>
              <a:endPara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6915339" cy="764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8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79011" y="449028"/>
            <a:ext cx="300609" cy="290771"/>
          </a:xfrm>
          <a:custGeom>
            <a:avLst/>
            <a:gdLst/>
            <a:ahLst/>
            <a:cxnLst/>
            <a:rect l="l" t="t" r="r" b="b"/>
            <a:pathLst>
              <a:path w="300609" h="290771">
                <a:moveTo>
                  <a:pt x="0" y="0"/>
                </a:moveTo>
                <a:lnTo>
                  <a:pt x="300608" y="0"/>
                </a:lnTo>
                <a:lnTo>
                  <a:pt x="300608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09649" y="401403"/>
            <a:ext cx="162330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Title Page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89611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05760" y="401403"/>
            <a:ext cx="17610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Reporters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3933418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600539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8872708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335973" y="263361"/>
            <a:ext cx="597104" cy="59710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AC9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382357" y="401403"/>
            <a:ext cx="183615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Technologi</a:t>
            </a:r>
          </a:p>
        </p:txBody>
      </p:sp>
      <p:sp>
        <p:nvSpPr>
          <p:cNvPr id="14" name="Freeform 14"/>
          <p:cNvSpPr/>
          <p:nvPr/>
        </p:nvSpPr>
        <p:spPr>
          <a:xfrm flipH="1">
            <a:off x="10966034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3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3" y="6946007"/>
                </a:lnTo>
                <a:lnTo>
                  <a:pt x="136445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191021" y="459882"/>
            <a:ext cx="300609" cy="290771"/>
          </a:xfrm>
          <a:custGeom>
            <a:avLst/>
            <a:gdLst/>
            <a:ahLst/>
            <a:cxnLst/>
            <a:rect l="l" t="t" r="r" b="b"/>
            <a:pathLst>
              <a:path w="300609" h="290771">
                <a:moveTo>
                  <a:pt x="0" y="0"/>
                </a:moveTo>
                <a:lnTo>
                  <a:pt x="300609" y="0"/>
                </a:lnTo>
                <a:lnTo>
                  <a:pt x="300609" y="290771"/>
                </a:lnTo>
                <a:lnTo>
                  <a:pt x="0" y="2907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746825" y="449028"/>
            <a:ext cx="290771" cy="290771"/>
          </a:xfrm>
          <a:custGeom>
            <a:avLst/>
            <a:gdLst/>
            <a:ahLst/>
            <a:cxnLst/>
            <a:rect l="l" t="t" r="r" b="b"/>
            <a:pathLst>
              <a:path w="290771" h="290771">
                <a:moveTo>
                  <a:pt x="0" y="0"/>
                </a:moveTo>
                <a:lnTo>
                  <a:pt x="290771" y="0"/>
                </a:lnTo>
                <a:lnTo>
                  <a:pt x="290771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0" y="1116460"/>
            <a:ext cx="18288000" cy="9170540"/>
            <a:chOff x="0" y="0"/>
            <a:chExt cx="4862686" cy="2438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62686" cy="2438400"/>
            </a:xfrm>
            <a:custGeom>
              <a:avLst/>
              <a:gdLst/>
              <a:ahLst/>
              <a:cxnLst/>
              <a:rect l="l" t="t" r="r" b="b"/>
              <a:pathLst>
                <a:path w="4862686" h="2438400">
                  <a:moveTo>
                    <a:pt x="0" y="0"/>
                  </a:moveTo>
                  <a:lnTo>
                    <a:pt x="4862686" y="0"/>
                  </a:lnTo>
                  <a:lnTo>
                    <a:pt x="4862686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FF0F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862686" cy="247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85272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 rot="-10800000">
            <a:off x="168470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2" name="Freeform 22"/>
          <p:cNvSpPr/>
          <p:nvPr/>
        </p:nvSpPr>
        <p:spPr>
          <a:xfrm>
            <a:off x="1200150" y="1443766"/>
            <a:ext cx="309499" cy="319371"/>
          </a:xfrm>
          <a:custGeom>
            <a:avLst/>
            <a:gdLst/>
            <a:ahLst/>
            <a:cxnLst/>
            <a:rect l="l" t="t" r="r" b="b"/>
            <a:pathLst>
              <a:path w="309499" h="319371">
                <a:moveTo>
                  <a:pt x="0" y="0"/>
                </a:moveTo>
                <a:lnTo>
                  <a:pt x="309499" y="0"/>
                </a:lnTo>
                <a:lnTo>
                  <a:pt x="309499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600768" y="1348239"/>
            <a:ext cx="15658532" cy="510426"/>
            <a:chOff x="0" y="0"/>
            <a:chExt cx="12467294" cy="406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467294" cy="406400"/>
            </a:xfrm>
            <a:custGeom>
              <a:avLst/>
              <a:gdLst/>
              <a:ahLst/>
              <a:cxnLst/>
              <a:rect l="l" t="t" r="r" b="b"/>
              <a:pathLst>
                <a:path w="12467294" h="406400">
                  <a:moveTo>
                    <a:pt x="12264094" y="0"/>
                  </a:moveTo>
                  <a:cubicBezTo>
                    <a:pt x="12376318" y="0"/>
                    <a:pt x="12467294" y="90976"/>
                    <a:pt x="12467294" y="203200"/>
                  </a:cubicBezTo>
                  <a:cubicBezTo>
                    <a:pt x="12467294" y="315424"/>
                    <a:pt x="12376318" y="406400"/>
                    <a:pt x="1226409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C5C6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12467294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752902" y="1443766"/>
            <a:ext cx="333943" cy="319371"/>
          </a:xfrm>
          <a:custGeom>
            <a:avLst/>
            <a:gdLst/>
            <a:ahLst/>
            <a:cxnLst/>
            <a:rect l="l" t="t" r="r" b="b"/>
            <a:pathLst>
              <a:path w="333943" h="319371">
                <a:moveTo>
                  <a:pt x="0" y="0"/>
                </a:moveTo>
                <a:lnTo>
                  <a:pt x="333942" y="0"/>
                </a:lnTo>
                <a:lnTo>
                  <a:pt x="333942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096010" y="4512754"/>
            <a:ext cx="800100" cy="800100"/>
          </a:xfrm>
          <a:custGeom>
            <a:avLst/>
            <a:gdLst/>
            <a:ahLst/>
            <a:cxnLst/>
            <a:rect l="l" t="t" r="r" b="b"/>
            <a:pathLst>
              <a:path w="800100" h="800100">
                <a:moveTo>
                  <a:pt x="0" y="0"/>
                </a:moveTo>
                <a:lnTo>
                  <a:pt x="800100" y="0"/>
                </a:lnTo>
                <a:lnTo>
                  <a:pt x="800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2086844" y="4398454"/>
            <a:ext cx="15197764" cy="5061528"/>
          </a:xfrm>
          <a:custGeom>
            <a:avLst/>
            <a:gdLst/>
            <a:ahLst/>
            <a:cxnLst/>
            <a:rect l="l" t="t" r="r" b="b"/>
            <a:pathLst>
              <a:path w="15197764" h="5061528">
                <a:moveTo>
                  <a:pt x="0" y="0"/>
                </a:moveTo>
                <a:lnTo>
                  <a:pt x="15197764" y="0"/>
                </a:lnTo>
                <a:lnTo>
                  <a:pt x="15197764" y="5061528"/>
                </a:lnTo>
                <a:lnTo>
                  <a:pt x="0" y="506152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5443067" y="401403"/>
            <a:ext cx="20719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Introduction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15039" y="401403"/>
            <a:ext cx="271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Overview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75683" y="401403"/>
            <a:ext cx="271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Process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258294" y="1368501"/>
            <a:ext cx="870774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48494E"/>
                </a:solidFill>
                <a:latin typeface="Open Sauce"/>
                <a:ea typeface="Open Sauce"/>
                <a:cs typeface="Open Sauce"/>
                <a:sym typeface="Open Sauce"/>
              </a:rPr>
              <a:t>Insert your topic here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35973" y="2344439"/>
            <a:ext cx="11860364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20"/>
              </a:lnSpc>
            </a:pPr>
            <a:r>
              <a:rPr lang="en-US" sz="86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KENDALA &amp; SOLUSI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79011" y="449028"/>
            <a:ext cx="300609" cy="290771"/>
          </a:xfrm>
          <a:custGeom>
            <a:avLst/>
            <a:gdLst/>
            <a:ahLst/>
            <a:cxnLst/>
            <a:rect l="l" t="t" r="r" b="b"/>
            <a:pathLst>
              <a:path w="300609" h="290771">
                <a:moveTo>
                  <a:pt x="0" y="0"/>
                </a:moveTo>
                <a:lnTo>
                  <a:pt x="300608" y="0"/>
                </a:lnTo>
                <a:lnTo>
                  <a:pt x="300608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09649" y="401403"/>
            <a:ext cx="162330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Title Page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89611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05760" y="401403"/>
            <a:ext cx="17610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Reporters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3933418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6005390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8872708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335973" y="263361"/>
            <a:ext cx="597104" cy="59710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B248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382357" y="401403"/>
            <a:ext cx="183615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Technologi</a:t>
            </a:r>
          </a:p>
        </p:txBody>
      </p:sp>
      <p:sp>
        <p:nvSpPr>
          <p:cNvPr id="14" name="Freeform 14"/>
          <p:cNvSpPr/>
          <p:nvPr/>
        </p:nvSpPr>
        <p:spPr>
          <a:xfrm flipH="1">
            <a:off x="10966034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3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3" y="6946007"/>
                </a:lnTo>
                <a:lnTo>
                  <a:pt x="136445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>
            <a:off x="12475683" y="97511"/>
            <a:ext cx="13644574" cy="6946007"/>
          </a:xfrm>
          <a:custGeom>
            <a:avLst/>
            <a:gdLst/>
            <a:ahLst/>
            <a:cxnLst/>
            <a:rect l="l" t="t" r="r" b="b"/>
            <a:pathLst>
              <a:path w="13644574" h="6946007">
                <a:moveTo>
                  <a:pt x="13644574" y="0"/>
                </a:moveTo>
                <a:lnTo>
                  <a:pt x="0" y="0"/>
                </a:lnTo>
                <a:lnTo>
                  <a:pt x="0" y="6946007"/>
                </a:lnTo>
                <a:lnTo>
                  <a:pt x="13644574" y="6946007"/>
                </a:lnTo>
                <a:lnTo>
                  <a:pt x="136445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700670" y="459882"/>
            <a:ext cx="300609" cy="290771"/>
          </a:xfrm>
          <a:custGeom>
            <a:avLst/>
            <a:gdLst/>
            <a:ahLst/>
            <a:cxnLst/>
            <a:rect l="l" t="t" r="r" b="b"/>
            <a:pathLst>
              <a:path w="300609" h="290771">
                <a:moveTo>
                  <a:pt x="0" y="0"/>
                </a:moveTo>
                <a:lnTo>
                  <a:pt x="300609" y="0"/>
                </a:lnTo>
                <a:lnTo>
                  <a:pt x="300609" y="290771"/>
                </a:lnTo>
                <a:lnTo>
                  <a:pt x="0" y="2907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7256474" y="449028"/>
            <a:ext cx="290771" cy="290771"/>
          </a:xfrm>
          <a:custGeom>
            <a:avLst/>
            <a:gdLst/>
            <a:ahLst/>
            <a:cxnLst/>
            <a:rect l="l" t="t" r="r" b="b"/>
            <a:pathLst>
              <a:path w="290771" h="290771">
                <a:moveTo>
                  <a:pt x="0" y="0"/>
                </a:moveTo>
                <a:lnTo>
                  <a:pt x="290771" y="0"/>
                </a:lnTo>
                <a:lnTo>
                  <a:pt x="290771" y="290770"/>
                </a:lnTo>
                <a:lnTo>
                  <a:pt x="0" y="29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0" y="1116460"/>
            <a:ext cx="18288000" cy="9170540"/>
            <a:chOff x="0" y="0"/>
            <a:chExt cx="4862686" cy="2438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62686" cy="2438400"/>
            </a:xfrm>
            <a:custGeom>
              <a:avLst/>
              <a:gdLst/>
              <a:ahLst/>
              <a:cxnLst/>
              <a:rect l="l" t="t" r="r" b="b"/>
              <a:pathLst>
                <a:path w="4862686" h="2438400">
                  <a:moveTo>
                    <a:pt x="0" y="0"/>
                  </a:moveTo>
                  <a:lnTo>
                    <a:pt x="4862686" y="0"/>
                  </a:lnTo>
                  <a:lnTo>
                    <a:pt x="4862686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FF0F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4862686" cy="247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685272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2" name="AutoShape 22"/>
          <p:cNvSpPr/>
          <p:nvPr/>
        </p:nvSpPr>
        <p:spPr>
          <a:xfrm rot="-10800000">
            <a:off x="168470" y="1603451"/>
            <a:ext cx="343428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3" name="Freeform 23"/>
          <p:cNvSpPr/>
          <p:nvPr/>
        </p:nvSpPr>
        <p:spPr>
          <a:xfrm>
            <a:off x="1200150" y="1443766"/>
            <a:ext cx="309499" cy="319371"/>
          </a:xfrm>
          <a:custGeom>
            <a:avLst/>
            <a:gdLst/>
            <a:ahLst/>
            <a:cxnLst/>
            <a:rect l="l" t="t" r="r" b="b"/>
            <a:pathLst>
              <a:path w="309499" h="319371">
                <a:moveTo>
                  <a:pt x="0" y="0"/>
                </a:moveTo>
                <a:lnTo>
                  <a:pt x="309499" y="0"/>
                </a:lnTo>
                <a:lnTo>
                  <a:pt x="309499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600768" y="1348239"/>
            <a:ext cx="15658532" cy="510426"/>
            <a:chOff x="0" y="0"/>
            <a:chExt cx="12467294" cy="406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467294" cy="406400"/>
            </a:xfrm>
            <a:custGeom>
              <a:avLst/>
              <a:gdLst/>
              <a:ahLst/>
              <a:cxnLst/>
              <a:rect l="l" t="t" r="r" b="b"/>
              <a:pathLst>
                <a:path w="12467294" h="406400">
                  <a:moveTo>
                    <a:pt x="12264094" y="0"/>
                  </a:moveTo>
                  <a:cubicBezTo>
                    <a:pt x="12376318" y="0"/>
                    <a:pt x="12467294" y="90976"/>
                    <a:pt x="12467294" y="203200"/>
                  </a:cubicBezTo>
                  <a:cubicBezTo>
                    <a:pt x="12467294" y="315424"/>
                    <a:pt x="12376318" y="406400"/>
                    <a:pt x="1226409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4C5C6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2467294" cy="41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80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752902" y="1443766"/>
            <a:ext cx="333943" cy="319371"/>
          </a:xfrm>
          <a:custGeom>
            <a:avLst/>
            <a:gdLst/>
            <a:ahLst/>
            <a:cxnLst/>
            <a:rect l="l" t="t" r="r" b="b"/>
            <a:pathLst>
              <a:path w="333943" h="319371">
                <a:moveTo>
                  <a:pt x="0" y="0"/>
                </a:moveTo>
                <a:lnTo>
                  <a:pt x="333942" y="0"/>
                </a:lnTo>
                <a:lnTo>
                  <a:pt x="333942" y="319371"/>
                </a:lnTo>
                <a:lnTo>
                  <a:pt x="0" y="319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1028700" y="3719195"/>
            <a:ext cx="9201677" cy="5539105"/>
            <a:chOff x="0" y="0"/>
            <a:chExt cx="12268903" cy="7385473"/>
          </a:xfrm>
        </p:grpSpPr>
        <p:pic>
          <p:nvPicPr>
            <p:cNvPr id="29" name="Picture 29"/>
            <p:cNvPicPr>
              <a:picLocks noChangeAspect="1"/>
            </p:cNvPicPr>
            <p:nvPr/>
          </p:nvPicPr>
          <p:blipFill>
            <a:blip r:embed="rId13"/>
            <a:srcRect t="4824" b="4824"/>
            <a:stretch>
              <a:fillRect/>
            </a:stretch>
          </p:blipFill>
          <p:spPr>
            <a:xfrm>
              <a:off x="0" y="0"/>
              <a:ext cx="12268903" cy="7385473"/>
            </a:xfrm>
            <a:prstGeom prst="rect">
              <a:avLst/>
            </a:prstGeom>
          </p:spPr>
        </p:pic>
      </p:grpSp>
      <p:sp>
        <p:nvSpPr>
          <p:cNvPr id="30" name="TextBox 30"/>
          <p:cNvSpPr txBox="1"/>
          <p:nvPr/>
        </p:nvSpPr>
        <p:spPr>
          <a:xfrm>
            <a:off x="5443067" y="401403"/>
            <a:ext cx="20719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Introduction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15039" y="401403"/>
            <a:ext cx="271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Overview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75683" y="401403"/>
            <a:ext cx="125247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Process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985332" y="401403"/>
            <a:ext cx="271533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Conclusion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258294" y="1368501"/>
            <a:ext cx="870774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48494E"/>
                </a:solidFill>
                <a:latin typeface="Open Sauce"/>
                <a:ea typeface="Open Sauce"/>
                <a:cs typeface="Open Sauce"/>
                <a:sym typeface="Open Sauce"/>
              </a:rPr>
              <a:t>Insert your topic here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8700" y="2265590"/>
            <a:ext cx="8992881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19"/>
              </a:lnSpc>
            </a:pPr>
            <a:r>
              <a:rPr lang="en-US" sz="85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KESIMPULAN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637374" y="4352607"/>
            <a:ext cx="6621926" cy="469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Aplikasi Digital Product Store berhasil dibangun dengan PHP Native, MySQL, Bootstrap 5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Mendukung 3 role (admin, seller, buyer) dengan fitur lengkap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Pembayaran terintegrasi (Midtrans &amp; manual)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Keamanan terjaga (hashing, prepared statement, XSS protection)</a:t>
            </a:r>
          </a:p>
          <a:p>
            <a:pPr marL="561341" lvl="1" indent="-280670" algn="l">
              <a:lnSpc>
                <a:spcPts val="338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Responsif untuk berbagai perangkat</a:t>
            </a:r>
          </a:p>
          <a:p>
            <a:pPr algn="l">
              <a:lnSpc>
                <a:spcPts val="3380"/>
              </a:lnSpc>
            </a:pPr>
            <a:endParaRPr lang="en-US" sz="260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1050</Words>
  <Application>Microsoft Office PowerPoint</Application>
  <PresentationFormat>Kustom</PresentationFormat>
  <Paragraphs>208</Paragraphs>
  <Slides>16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5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16</vt:i4>
      </vt:variant>
    </vt:vector>
  </HeadingPairs>
  <TitlesOfParts>
    <vt:vector size="22" baseType="lpstr">
      <vt:lpstr>Garet Bold</vt:lpstr>
      <vt:lpstr>Calibri</vt:lpstr>
      <vt:lpstr>Open Sauce</vt:lpstr>
      <vt:lpstr>Open Sauce Semi-Bold</vt:lpstr>
      <vt:lpstr>Arial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Members</dc:title>
  <cp:lastModifiedBy>Andika Abdi</cp:lastModifiedBy>
  <cp:revision>2</cp:revision>
  <dcterms:created xsi:type="dcterms:W3CDTF">2006-08-16T00:00:00Z</dcterms:created>
  <dcterms:modified xsi:type="dcterms:W3CDTF">2026-07-12T14:58:52Z</dcterms:modified>
  <dc:identifier>DAHOMrfy5W8</dc:identifier>
</cp:coreProperties>
</file>